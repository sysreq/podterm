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6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24" autoAdjust="0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144" y="12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827473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TARGET: Stellar Science hiring panel — mixed C++ / Python / PhD / non-technical, some attendees on Teams. 18 min presentation + 12 min Q&amp;A.
Opening intent: establish the product benefit before architecture. The live pod is pre-warmed and off the critical path.
Earned impressions: turns a need into a deliverable service; owns quality; can solve a hard systems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0:00–2:00
OPENER: “Most of training a small GPT is guess-and-check. You tweak something, wait, stare at a loss curve, and still can’t answer the one question that matters: why is it doing what it’s doing. So I built the instrument I wanted. GPT Caddy rents a GPU by the minute, runs the training, gives me live X-ray vision into the run, and grades the model’s health off the training GPU — so I can see why and decide what to change next in minutes, not hours.”
ACTION: quietly kick a fresh live launch here as the ‘it’s really running’ tease. Keep it off the critical path; if it fails, nobody notices.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2:00–3:00
“That loop is the whole tool. Everything I show you is one lap around it.” Diagnose is highlighted because it is the part most tools skip and the payoff of the origin 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3:00–4:20
“GPT Caddy is deliberately small — a control plane on my laptop. The heavy lifting runs on the pod, from a sibling repo, gpt-golf.”
Frame the architecture as cattle, not pets. The pod is disposable; durable state is local. Avoid saying “lose nothing” absolutely — the precise claim is that durable run history and returned artifacts survive pod loss.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4:20–5:25
SENTENCEPIECE: “Tokenizing the corpus was the bottleneck, so I forked SentencePiece to use multiple cores with smart buffering — divide-and-conquer over the corpus. Ten billion tokens went from over an hour to under ten minutes, at roughly half the memory.”
Q&amp;A bait: chunk sizing to avoid overflow and removal of cross-thread contention.
CUDA: Torch DT_NEEDED entries force the loader to map FFT / sparse libraries at import even though this model never calls them. Deleting them causes ImportError; empty stubs fail the version check. A 16 KB no-op stub exporting exactly the referenced, versioned symbols satisfies the loader. Symbols are generated from the installed Torch binary, so dependency updates self-correct. NCCL is stubbed for single-GPU runs; bootstrap restores the real wheel for torchrun and fails loudly if it cannot.
RIGOR BEAT: none of this is guesswork. Stubs are derived from Torch; restore is fail-loud. Prefer a broken build to silent numerical error.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5:25–6:15
Keep this crisp. pod_eventd.py serves JSONL events, raw logs, snapshots, and a small snapshot acknowledgement. The daemon is stdlib-only so it starts before the environment is installed.
Q&amp;A details: service-singleton DAG (SSEHub ← EventPipeline ← PodManager), ordered shutdown, idempotent finalize, two-confirm “pod gone,” backpressure, redaction, and a boot panel that parses machine logs through a short-lived console token.
Transition: architecture is done; get to the live app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6:15–11:30
SWITCH TO THE APP. Use the pre-warmed pod, already training.
Lead with the race bar — the feature to be proudest of. It is client-side derived from EMA step time, ETA, throughput, and projected finish loss. Then show KPI cards and cost ticking. Say: “All of this is updating right now.”
Avoid asking a mixed audience to parse “SSE” on screen; explain the live stream only if asked.
BACKUP: if the pod misbehaves, use the static live-run backup slide or a completed historical run from SQLite.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11:30–15:30
KEYSTONE: “The diagnostics check their own arithmetic. The off-pod forward pass recomputes each layer from its parts, re-derives the loss independently, and reconciles bits-per-byte against the on-pod evaluation — across different hardware. Anything it can’t verify is flagged.”
Show Model Health verdict and the deep dive first. Translate technical metrics into plain-English questions: capacity used? signal flow? gradients healthy? attention focused?
Credibility line: most tools report a result; GPT Caddy cross-checks it. Avoid the absolute claim “proves it.”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15:30–17:30</a:t>
            </a:r>
          </a:p>
          <a:p>
            <a:endParaRPr/>
          </a:p>
          <a:p>
            <a:r>
              <a:t>History → select two runs → Compare. Ask the three questions on the slide, then show overlays, regression banners, and the model-health diff.</a:t>
            </a:r>
          </a:p>
          <a:p>
            <a:endParaRPr/>
          </a:p>
          <a:p>
            <a:r>
              <a:t>Key line: “Compare at equal step or equal progress.”</a:t>
            </a:r>
          </a:p>
          <a:p>
            <a:endParaRPr/>
          </a:p>
          <a:p>
            <a:r>
              <a:t>Close the loop: this is what the system is for — decide what to change next.</a:t>
            </a:r>
          </a:p>
          <a:p>
            <a:endParaRPr/>
          </a:p>
          <a:p>
            <a:r>
              <a:t>ON-SLIDE: this is the real run-vs-run Compare screen. Read it top-to-bottom: no-regression banner, loss curves, validation BPB, then model health.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17:30–18:00
LANDING: “This started because I had a need I couldn’t meet. I found the need, built the tool, and made it trustworthy enough to use every day.”
Do not promise that the top-of-show pod has already stopped. Verify in the app first; show the actual bill only if the run is complete. Otherwise use the durable-history line on the slide and move to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DTERM_MASTER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DTERM_TITLE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38360" y="0"/>
            <a:ext cx="2450592" cy="2450592"/>
          </a:xfrm>
          <a:prstGeom prst="ellipse">
            <a:avLst/>
          </a:prstGeom>
          <a:solidFill>
            <a:srgbClr val="4AA3FF">
              <a:alpha val="8000"/>
            </a:srgbClr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68096" y="1572768"/>
            <a:ext cx="1371600" cy="0"/>
          </a:xfrm>
          <a:prstGeom prst="line">
            <a:avLst/>
          </a:prstGeom>
          <a:noFill/>
          <a:ln w="38100">
            <a:solidFill>
              <a:srgbClr val="4AA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68096" y="1783080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GPT Caddy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76852" y="2596896"/>
            <a:ext cx="8869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utility to make GPT Golf easier.</a:t>
            </a: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	See inside the run.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		Decide what to change next.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68096" y="4087368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 built it for myself — every GPT Golf run goes through it.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68096" y="5166360"/>
            <a:ext cx="1143000" cy="301752"/>
          </a:xfrm>
          <a:prstGeom prst="roundRect">
            <a:avLst>
              <a:gd name="adj" fmla="val 48485"/>
            </a:avLst>
          </a:prstGeom>
          <a:solidFill>
            <a:srgbClr val="4AA3FF">
              <a:alpha val="22000"/>
            </a:srgbClr>
          </a:solidFill>
          <a:ln w="12700">
            <a:solidFill>
              <a:srgbClr val="4AA3FF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41248" y="5216652"/>
            <a:ext cx="996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kern="0" spc="40" dirty="0">
                <a:solidFill>
                  <a:srgbClr val="4AA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057400" y="5166360"/>
            <a:ext cx="1115568" cy="301752"/>
          </a:xfrm>
          <a:prstGeom prst="roundRect">
            <a:avLst>
              <a:gd name="adj" fmla="val 48485"/>
            </a:avLst>
          </a:prstGeom>
          <a:solidFill>
            <a:srgbClr val="38D39F">
              <a:alpha val="20000"/>
            </a:srgbClr>
          </a:solidFill>
          <a:ln w="12700">
            <a:solidFill>
              <a:srgbClr val="38D39F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130552" y="5216652"/>
            <a:ext cx="9692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kern="0" spc="40" dirty="0">
                <a:solidFill>
                  <a:srgbClr val="38D39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RUN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319272" y="5166360"/>
            <a:ext cx="1572768" cy="301752"/>
          </a:xfrm>
          <a:prstGeom prst="roundRect">
            <a:avLst>
              <a:gd name="adj" fmla="val 48485"/>
            </a:avLst>
          </a:prstGeom>
          <a:solidFill>
            <a:srgbClr val="F4C65D">
              <a:alpha val="18000"/>
            </a:srgbClr>
          </a:solidFill>
          <a:ln w="12700">
            <a:solidFill>
              <a:srgbClr val="F4C65D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392424" y="5216652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kern="0" spc="40" dirty="0">
                <a:solidFill>
                  <a:srgbClr val="F4C6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~20 MIN + Q&amp;A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720840" y="5093208"/>
            <a:ext cx="173736" cy="173736"/>
          </a:xfrm>
          <a:prstGeom prst="ellipse">
            <a:avLst/>
          </a:prstGeom>
          <a:solidFill>
            <a:srgbClr val="4AA3FF"/>
          </a:solidFill>
          <a:ln w="12700">
            <a:solidFill>
              <a:srgbClr val="4AA3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64808" y="5394960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chemeClr val="bg1">
                    <a:lumMod val="8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Launch</a:t>
            </a:r>
            <a:endParaRPr lang="en-US" sz="95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894576" y="5180076"/>
            <a:ext cx="768096" cy="0"/>
          </a:xfrm>
          <a:prstGeom prst="line">
            <a:avLst/>
          </a:prstGeom>
          <a:noFill/>
          <a:ln w="19050">
            <a:solidFill>
              <a:srgbClr val="29436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662672" y="5093208"/>
            <a:ext cx="173736" cy="173736"/>
          </a:xfrm>
          <a:prstGeom prst="ellipse">
            <a:avLst/>
          </a:prstGeom>
          <a:solidFill>
            <a:srgbClr val="4AA3FF"/>
          </a:solidFill>
          <a:ln w="12700">
            <a:solidFill>
              <a:srgbClr val="4AA3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406640" y="5394960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chemeClr val="bg1">
                    <a:lumMod val="8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</a:t>
            </a:r>
            <a:endParaRPr lang="en-US" sz="95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9" name="Shape 17"/>
          <p:cNvSpPr/>
          <p:nvPr/>
        </p:nvSpPr>
        <p:spPr>
          <a:xfrm>
            <a:off x="7836408" y="5180076"/>
            <a:ext cx="768096" cy="0"/>
          </a:xfrm>
          <a:prstGeom prst="line">
            <a:avLst/>
          </a:prstGeom>
          <a:noFill/>
          <a:ln w="19050">
            <a:solidFill>
              <a:srgbClr val="29436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604504" y="5093208"/>
            <a:ext cx="173736" cy="173736"/>
          </a:xfrm>
          <a:prstGeom prst="ellipse">
            <a:avLst/>
          </a:prstGeom>
          <a:solidFill>
            <a:srgbClr val="4AA3FF"/>
          </a:solidFill>
          <a:ln w="12700">
            <a:solidFill>
              <a:srgbClr val="4AA3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348472" y="5394960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bg1">
                    <a:lumMod val="8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Diagnose</a:t>
            </a:r>
            <a:endParaRPr lang="en-US" sz="95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2" name="Shape 20"/>
          <p:cNvSpPr/>
          <p:nvPr/>
        </p:nvSpPr>
        <p:spPr>
          <a:xfrm>
            <a:off x="8778240" y="5180076"/>
            <a:ext cx="768096" cy="0"/>
          </a:xfrm>
          <a:prstGeom prst="line">
            <a:avLst/>
          </a:prstGeom>
          <a:noFill/>
          <a:ln w="19050">
            <a:solidFill>
              <a:srgbClr val="29436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9546336" y="5093208"/>
            <a:ext cx="173736" cy="173736"/>
          </a:xfrm>
          <a:prstGeom prst="ellipse">
            <a:avLst/>
          </a:prstGeom>
          <a:solidFill>
            <a:srgbClr val="4AA3FF"/>
          </a:solidFill>
          <a:ln w="12700">
            <a:solidFill>
              <a:srgbClr val="4AA3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290304" y="5394960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chemeClr val="bg1">
                    <a:lumMod val="8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</a:t>
            </a:r>
            <a:endParaRPr lang="en-US" sz="95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5" name="Shape 23"/>
          <p:cNvSpPr/>
          <p:nvPr/>
        </p:nvSpPr>
        <p:spPr>
          <a:xfrm>
            <a:off x="9720072" y="5180076"/>
            <a:ext cx="768096" cy="0"/>
          </a:xfrm>
          <a:prstGeom prst="line">
            <a:avLst/>
          </a:prstGeom>
          <a:noFill/>
          <a:ln w="19050">
            <a:solidFill>
              <a:srgbClr val="29436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10488168" y="5093208"/>
            <a:ext cx="173736" cy="173736"/>
          </a:xfrm>
          <a:prstGeom prst="ellipse">
            <a:avLst/>
          </a:prstGeom>
          <a:solidFill>
            <a:srgbClr val="4AA3FF"/>
          </a:solidFill>
          <a:ln w="12700">
            <a:solidFill>
              <a:srgbClr val="4AA3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0232136" y="5394960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chemeClr val="bg1">
                    <a:lumMod val="8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Decide</a:t>
            </a:r>
            <a:endParaRPr lang="en-US" sz="95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9" name="Presenter"/>
          <p:cNvSpPr/>
          <p:nvPr/>
        </p:nvSpPr>
        <p:spPr>
          <a:xfrm>
            <a:off x="768096" y="6080760"/>
            <a:ext cx="500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593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Stephen Herlihy   ·   June 2026</a:t>
            </a:r>
            <a:endParaRPr lang="en-US" sz="17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8A2D313-44E6-4662-A6A8-DE375CF905CA}"/>
              </a:ext>
            </a:extLst>
          </p:cNvPr>
          <p:cNvSpPr txBox="1"/>
          <p:nvPr/>
        </p:nvSpPr>
        <p:spPr>
          <a:xfrm>
            <a:off x="762000" y="4826000"/>
            <a:ext cx="2540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 anchorCtr="0">
            <a:noAutofit/>
          </a:bodyPr>
          <a:lstStyle/>
          <a:p>
            <a:pPr algn="l"/>
            <a:r>
              <a:rPr lang="en-US" sz="1000" b="1">
                <a:solidFill>
                  <a:srgbClr val="4AA3FF"/>
                </a:solidFill>
                <a:latin typeface="Aptos"/>
              </a:rPr>
              <a:t>FORMAT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0BE8B93-ECAB-484D-8F2D-4B2F9CE1ECDF}"/>
              </a:ext>
            </a:extLst>
          </p:cNvPr>
          <p:cNvSpPr txBox="1"/>
          <p:nvPr/>
        </p:nvSpPr>
        <p:spPr>
          <a:xfrm>
            <a:off x="6464300" y="4826000"/>
            <a:ext cx="4318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 anchorCtr="0">
            <a:noAutofit/>
          </a:bodyPr>
          <a:lstStyle/>
          <a:p>
            <a:pPr algn="l"/>
            <a:r>
              <a:rPr lang="en-US" sz="1000" b="1">
                <a:solidFill>
                  <a:srgbClr val="4AA3FF"/>
                </a:solidFill>
                <a:latin typeface="Aptos"/>
              </a:rPr>
              <a:t>EVERY RUN, END TO END</a:t>
            </a:r>
          </a:p>
        </p:txBody>
      </p:sp>
    </p:spTree>
    <p:extLst>
      <p:ext uri="{BB962C8B-B14F-4D97-AF65-F5344CB8AC3E}">
        <p14:creationId xmlns:p14="http://schemas.microsoft.com/office/powerpoint/2010/main" val="17394904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38360" y="0"/>
            <a:ext cx="2450592" cy="2450592"/>
          </a:xfrm>
          <a:prstGeom prst="ellipse">
            <a:avLst/>
          </a:prstGeom>
          <a:solidFill>
            <a:srgbClr val="4AA3FF">
              <a:alpha val="8000"/>
            </a:srgbClr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230368"/>
            <a:ext cx="1691640" cy="1627632"/>
          </a:xfrm>
          <a:prstGeom prst="ellipse">
            <a:avLst/>
          </a:prstGeom>
          <a:solidFill>
            <a:srgbClr val="4FC3E6">
              <a:alpha val="5000"/>
            </a:srgbClr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66928" y="493776"/>
            <a:ext cx="73152" cy="310896"/>
          </a:xfrm>
          <a:prstGeom prst="roundRect">
            <a:avLst>
              <a:gd name="adj" fmla="val 50000"/>
            </a:avLst>
          </a:prstGeom>
          <a:solidFill>
            <a:srgbClr val="4AA3FF"/>
          </a:solidFill>
          <a:ln w="12700">
            <a:solidFill>
              <a:srgbClr val="4AA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9808" y="4846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4AA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NEED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49808" y="676656"/>
            <a:ext cx="10561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Naive GPT Golf is guess-and-check.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66928" y="6446520"/>
            <a:ext cx="11064240" cy="0"/>
          </a:xfrm>
          <a:prstGeom prst="line">
            <a:avLst/>
          </a:prstGeom>
          <a:noFill/>
          <a:ln w="10160">
            <a:solidFill>
              <a:srgbClr val="1D31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66928" y="651967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80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GPT Caddy  ·  Stellar Science demo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109960" y="650138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0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388603" y="1375596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Tweak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276583" y="1414903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4AA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721137" y="1375596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wait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365850" y="1419414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4AA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847423" y="13847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inspect loss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486482" y="1422206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4AA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952296" y="1375596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guess again?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6486482" y="391967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8D39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— not why.</a:t>
            </a:r>
            <a:endParaRPr lang="en-US" sz="2800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9545796-1E86-C0F2-57B7-AB970E018A05}"/>
              </a:ext>
            </a:extLst>
          </p:cNvPr>
          <p:cNvSpPr/>
          <p:nvPr/>
        </p:nvSpPr>
        <p:spPr>
          <a:xfrm>
            <a:off x="702299" y="3316365"/>
            <a:ext cx="5209033" cy="155956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E2EADBC-BBC8-8509-122B-77261F4517B9}"/>
              </a:ext>
            </a:extLst>
          </p:cNvPr>
          <p:cNvSpPr txBox="1"/>
          <p:nvPr/>
        </p:nvSpPr>
        <p:spPr>
          <a:xfrm>
            <a:off x="702300" y="3316365"/>
            <a:ext cx="520903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step:1000/20000 train_loss:3.0888 train_time:199487ms step_avg:199.48ms</a:t>
            </a:r>
          </a:p>
          <a:p>
            <a:r>
              <a:rPr lang="en-US" sz="1200" dirty="0"/>
              <a:t>step:1250/20000 train_loss:3.0824 train_time:249358ms step_avg:199.49ms</a:t>
            </a:r>
          </a:p>
          <a:p>
            <a:r>
              <a:rPr lang="en-US" sz="1200" dirty="0"/>
              <a:t>step:1500/20000 train_loss:3.0743 train_time:299232ms step_avg:199.49ms</a:t>
            </a:r>
          </a:p>
          <a:p>
            <a:r>
              <a:rPr lang="en-US" sz="1200" dirty="0"/>
              <a:t>step:1750/20000 train_loss:3.0707 train_time:349106ms step_avg:199.50ms</a:t>
            </a:r>
          </a:p>
          <a:p>
            <a:r>
              <a:rPr lang="en-US" sz="1200" dirty="0"/>
              <a:t>step:2000/20000 train_loss:3.0401 train_time:398978ms step_avg:199.49ms</a:t>
            </a:r>
          </a:p>
          <a:p>
            <a:r>
              <a:rPr lang="en-US" sz="1200" dirty="0"/>
              <a:t>step:2250/20000 train_loss:3.0157 train_time:448839ms step_avg:199.45ms</a:t>
            </a:r>
          </a:p>
          <a:p>
            <a:r>
              <a:rPr lang="en-US" sz="1200" dirty="0"/>
              <a:t>step:2500/20000 train_loss:2.9648 train_time:498704ms step_avg:199.46ms</a:t>
            </a:r>
          </a:p>
          <a:p>
            <a:r>
              <a:rPr lang="en-US" sz="1200" dirty="0"/>
              <a:t>step:2750/20000 train_loss:2.8870 train_time:548568ms step_avg:199.46ms</a:t>
            </a:r>
          </a:p>
        </p:txBody>
      </p:sp>
      <p:sp>
        <p:nvSpPr>
          <p:cNvPr id="41" name="Text 31">
            <a:extLst>
              <a:ext uri="{FF2B5EF4-FFF2-40B4-BE49-F238E27FC236}">
                <a16:creationId xmlns:a16="http://schemas.microsoft.com/office/drawing/2014/main" id="{09BA6AC1-47BF-D7F9-46D0-72DF20D0C63D}"/>
              </a:ext>
            </a:extLst>
          </p:cNvPr>
          <p:cNvSpPr/>
          <p:nvPr/>
        </p:nvSpPr>
        <p:spPr>
          <a:xfrm>
            <a:off x="678558" y="2740789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8D39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Logs tell you what happened.</a:t>
            </a:r>
            <a:endParaRPr lang="en-US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38360" y="0"/>
            <a:ext cx="2450592" cy="2450592"/>
          </a:xfrm>
          <a:prstGeom prst="ellipse">
            <a:avLst/>
          </a:prstGeom>
          <a:solidFill>
            <a:srgbClr val="38D39F">
              <a:alpha val="8000"/>
            </a:srgbClr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230368"/>
            <a:ext cx="1691640" cy="1627632"/>
          </a:xfrm>
          <a:prstGeom prst="ellipse">
            <a:avLst/>
          </a:prstGeom>
          <a:solidFill>
            <a:srgbClr val="4FC3E6">
              <a:alpha val="5000"/>
            </a:srgbClr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66928" y="493776"/>
            <a:ext cx="73152" cy="310896"/>
          </a:xfrm>
          <a:prstGeom prst="roundRect">
            <a:avLst>
              <a:gd name="adj" fmla="val 50000"/>
            </a:avLst>
          </a:prstGeom>
          <a:solidFill>
            <a:srgbClr val="4AA3FF"/>
          </a:solidFill>
          <a:ln w="12700">
            <a:solidFill>
              <a:srgbClr val="4AA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9808" y="4846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4AA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49808" y="676656"/>
            <a:ext cx="10561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4F7FC"/>
                </a:solidFill>
                <a:latin typeface="Aptos Display" pitchFamily="34" charset="0"/>
              </a:rPr>
              <a:t>Shrink the loop. Iterate faster.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66928" y="6446520"/>
            <a:ext cx="11064240" cy="0"/>
          </a:xfrm>
          <a:prstGeom prst="line">
            <a:avLst/>
          </a:prstGeom>
          <a:noFill/>
          <a:ln w="10160">
            <a:solidFill>
              <a:srgbClr val="1D31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66928" y="651967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80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GPT Caddy  ·  Stellar Science demo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109960" y="650138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0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49808" y="2148840"/>
            <a:ext cx="1993392" cy="1225296"/>
          </a:xfrm>
          <a:prstGeom prst="roundRect">
            <a:avLst>
              <a:gd name="adj" fmla="val 5970"/>
            </a:avLst>
          </a:prstGeom>
          <a:solidFill>
            <a:srgbClr val="0D1A2D"/>
          </a:solidFill>
          <a:ln w="13970">
            <a:solidFill>
              <a:srgbClr val="2943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914400" y="2313432"/>
            <a:ext cx="420624" cy="256032"/>
          </a:xfrm>
          <a:prstGeom prst="roundRect">
            <a:avLst>
              <a:gd name="adj" fmla="val 57143"/>
            </a:avLst>
          </a:prstGeom>
          <a:solidFill>
            <a:srgbClr val="4AA3FF">
              <a:alpha val="18000"/>
            </a:srgbClr>
          </a:solidFill>
          <a:ln w="12700">
            <a:solidFill>
              <a:srgbClr val="4AA3FF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87552" y="2363724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kern="0" spc="40" dirty="0">
                <a:solidFill>
                  <a:srgbClr val="4AA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914400" y="2670048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Launch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14400" y="3026664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rent + start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2770632" y="2761488"/>
            <a:ext cx="146304" cy="0"/>
          </a:xfrm>
          <a:prstGeom prst="line">
            <a:avLst/>
          </a:prstGeom>
          <a:noFill/>
          <a:ln w="22860">
            <a:solidFill>
              <a:srgbClr val="4AA3F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944368" y="2148840"/>
            <a:ext cx="1993392" cy="1225296"/>
          </a:xfrm>
          <a:prstGeom prst="roundRect">
            <a:avLst>
              <a:gd name="adj" fmla="val 5970"/>
            </a:avLst>
          </a:prstGeom>
          <a:solidFill>
            <a:srgbClr val="0D1A2D"/>
          </a:solidFill>
          <a:ln w="13970">
            <a:solidFill>
              <a:srgbClr val="2943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108960" y="2313432"/>
            <a:ext cx="420624" cy="256032"/>
          </a:xfrm>
          <a:prstGeom prst="roundRect">
            <a:avLst>
              <a:gd name="adj" fmla="val 57143"/>
            </a:avLst>
          </a:prstGeom>
          <a:solidFill>
            <a:srgbClr val="4AA3FF">
              <a:alpha val="18000"/>
            </a:srgbClr>
          </a:solidFill>
          <a:ln w="12700">
            <a:solidFill>
              <a:srgbClr val="4AA3FF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182112" y="2363724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kern="0" spc="40" dirty="0">
                <a:solidFill>
                  <a:srgbClr val="4AA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108960" y="2670048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Monitor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3108960" y="3026664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state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965192" y="2761488"/>
            <a:ext cx="146304" cy="0"/>
          </a:xfrm>
          <a:prstGeom prst="line">
            <a:avLst/>
          </a:prstGeom>
          <a:noFill/>
          <a:ln w="22860">
            <a:solidFill>
              <a:srgbClr val="4AA3F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138928" y="2148840"/>
            <a:ext cx="1993392" cy="1225296"/>
          </a:xfrm>
          <a:prstGeom prst="roundRect">
            <a:avLst>
              <a:gd name="adj" fmla="val 5970"/>
            </a:avLst>
          </a:prstGeom>
          <a:solidFill>
            <a:srgbClr val="123A34"/>
          </a:solidFill>
          <a:ln w="21590">
            <a:solidFill>
              <a:srgbClr val="38D3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303520" y="2313432"/>
            <a:ext cx="420624" cy="256032"/>
          </a:xfrm>
          <a:prstGeom prst="roundRect">
            <a:avLst>
              <a:gd name="adj" fmla="val 57143"/>
            </a:avLst>
          </a:prstGeom>
          <a:solidFill>
            <a:srgbClr val="38D39F">
              <a:alpha val="18000"/>
            </a:srgbClr>
          </a:solidFill>
          <a:ln w="12700">
            <a:solidFill>
              <a:srgbClr val="38D39F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376672" y="2363724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kern="0" spc="40" dirty="0">
                <a:solidFill>
                  <a:srgbClr val="38D39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303520" y="2670048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8D39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Diagnose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303520" y="3026664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health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7159752" y="2761488"/>
            <a:ext cx="146304" cy="0"/>
          </a:xfrm>
          <a:prstGeom prst="line">
            <a:avLst/>
          </a:prstGeom>
          <a:noFill/>
          <a:ln w="22860">
            <a:solidFill>
              <a:srgbClr val="38D39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7333488" y="2148840"/>
            <a:ext cx="1993392" cy="1225296"/>
          </a:xfrm>
          <a:prstGeom prst="roundRect">
            <a:avLst>
              <a:gd name="adj" fmla="val 5970"/>
            </a:avLst>
          </a:prstGeom>
          <a:solidFill>
            <a:srgbClr val="0D1A2D"/>
          </a:solidFill>
          <a:ln w="13970">
            <a:solidFill>
              <a:srgbClr val="2943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7498080" y="2313432"/>
            <a:ext cx="420624" cy="256032"/>
          </a:xfrm>
          <a:prstGeom prst="roundRect">
            <a:avLst>
              <a:gd name="adj" fmla="val 57143"/>
            </a:avLst>
          </a:prstGeom>
          <a:solidFill>
            <a:srgbClr val="4AA3FF">
              <a:alpha val="18000"/>
            </a:srgbClr>
          </a:solidFill>
          <a:ln w="12700">
            <a:solidFill>
              <a:srgbClr val="4AA3FF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571232" y="2363724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kern="0" spc="40" dirty="0">
                <a:solidFill>
                  <a:srgbClr val="4AA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7498080" y="2670048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Compare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7498080" y="3026664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vs run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9354312" y="2761488"/>
            <a:ext cx="146304" cy="0"/>
          </a:xfrm>
          <a:prstGeom prst="line">
            <a:avLst/>
          </a:prstGeom>
          <a:noFill/>
          <a:ln w="22860">
            <a:solidFill>
              <a:srgbClr val="4AA3F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9528048" y="2148840"/>
            <a:ext cx="1993392" cy="1225296"/>
          </a:xfrm>
          <a:prstGeom prst="roundRect">
            <a:avLst>
              <a:gd name="adj" fmla="val 5970"/>
            </a:avLst>
          </a:prstGeom>
          <a:solidFill>
            <a:srgbClr val="0D1A2D"/>
          </a:solidFill>
          <a:ln w="13970">
            <a:solidFill>
              <a:srgbClr val="2943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9692640" y="2313432"/>
            <a:ext cx="420624" cy="256032"/>
          </a:xfrm>
          <a:prstGeom prst="roundRect">
            <a:avLst>
              <a:gd name="adj" fmla="val 57143"/>
            </a:avLst>
          </a:prstGeom>
          <a:solidFill>
            <a:srgbClr val="4AA3FF">
              <a:alpha val="18000"/>
            </a:srgbClr>
          </a:solidFill>
          <a:ln w="12700">
            <a:solidFill>
              <a:srgbClr val="4AA3FF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9765792" y="2363724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kern="0" spc="40" dirty="0">
                <a:solidFill>
                  <a:srgbClr val="4AA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9692640" y="2670048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Decide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9692640" y="3026664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change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1746504" y="4290793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Every pass through the loop should reduce uncertainty.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38360" y="0"/>
            <a:ext cx="2450592" cy="2450592"/>
          </a:xfrm>
          <a:prstGeom prst="ellipse">
            <a:avLst/>
          </a:prstGeom>
          <a:solidFill>
            <a:srgbClr val="4AA3FF">
              <a:alpha val="8000"/>
            </a:srgbClr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230368"/>
            <a:ext cx="1691640" cy="1627632"/>
          </a:xfrm>
          <a:prstGeom prst="ellipse">
            <a:avLst/>
          </a:prstGeom>
          <a:solidFill>
            <a:srgbClr val="4FC3E6">
              <a:alpha val="5000"/>
            </a:srgbClr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66928" y="493776"/>
            <a:ext cx="73152" cy="310896"/>
          </a:xfrm>
          <a:prstGeom prst="roundRect">
            <a:avLst>
              <a:gd name="adj" fmla="val 50000"/>
            </a:avLst>
          </a:prstGeom>
          <a:solidFill>
            <a:srgbClr val="4AA3FF"/>
          </a:solidFill>
          <a:ln w="12700">
            <a:solidFill>
              <a:srgbClr val="4AA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9808" y="4846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4AA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49808" y="676656"/>
            <a:ext cx="10561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Ephemeral GPU. Durable control plane.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66928" y="6446520"/>
            <a:ext cx="11064240" cy="0"/>
          </a:xfrm>
          <a:prstGeom prst="line">
            <a:avLst/>
          </a:prstGeom>
          <a:noFill/>
          <a:ln w="10160">
            <a:solidFill>
              <a:srgbClr val="1D31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66928" y="651967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80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GPT Caddy  ·  Stellar Science demo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109960" y="650138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0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49808" y="1554480"/>
            <a:ext cx="4343400" cy="3429000"/>
          </a:xfrm>
          <a:prstGeom prst="roundRect">
            <a:avLst>
              <a:gd name="adj" fmla="val 2133"/>
            </a:avLst>
          </a:prstGeom>
          <a:solidFill>
            <a:srgbClr val="0D1A2D"/>
          </a:solidFill>
          <a:ln w="13970">
            <a:solidFill>
              <a:srgbClr val="294361"/>
            </a:solidFill>
            <a:prstDash val="solid"/>
          </a:ln>
          <a:effectLst>
            <a:outerShdw blurRad="1905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051560" y="1810512"/>
            <a:ext cx="1417320" cy="301752"/>
          </a:xfrm>
          <a:prstGeom prst="roundRect">
            <a:avLst>
              <a:gd name="adj" fmla="val 48485"/>
            </a:avLst>
          </a:prstGeom>
          <a:solidFill>
            <a:srgbClr val="4AA3FF">
              <a:alpha val="20000"/>
            </a:srgbClr>
          </a:solidFill>
          <a:ln w="12700">
            <a:solidFill>
              <a:srgbClr val="4AA3FF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124712" y="1860804"/>
            <a:ext cx="12710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kern="0" spc="40" dirty="0">
                <a:solidFill>
                  <a:srgbClr val="4AA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RUNPOD GPU POD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51560" y="2304288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Ephemeral compute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1051560" y="2944368"/>
            <a:ext cx="36118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clone code  ·  pull data</a:t>
            </a:r>
            <a:endParaRPr lang="en-US" sz="1900" dirty="0"/>
          </a:p>
          <a:p>
            <a:r>
              <a:rPr lang="en-US" sz="1900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  ·  snapshot  · terminate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051560" y="440740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FC3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Cloud. Stateless. 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086600" y="1554480"/>
            <a:ext cx="4343400" cy="3429000"/>
          </a:xfrm>
          <a:prstGeom prst="roundRect">
            <a:avLst>
              <a:gd name="adj" fmla="val 2133"/>
            </a:avLst>
          </a:prstGeom>
          <a:solidFill>
            <a:srgbClr val="132640"/>
          </a:solidFill>
          <a:ln w="13970">
            <a:solidFill>
              <a:srgbClr val="4AA3FF"/>
            </a:solidFill>
            <a:prstDash val="solid"/>
          </a:ln>
          <a:effectLst>
            <a:outerShdw blurRad="1905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388352" y="1810512"/>
            <a:ext cx="1645920" cy="301752"/>
          </a:xfrm>
          <a:prstGeom prst="roundRect">
            <a:avLst>
              <a:gd name="adj" fmla="val 48485"/>
            </a:avLst>
          </a:prstGeom>
          <a:solidFill>
            <a:srgbClr val="38D39F">
              <a:alpha val="18000"/>
            </a:srgbClr>
          </a:solidFill>
          <a:ln w="12700">
            <a:solidFill>
              <a:srgbClr val="38D39F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461504" y="1860804"/>
            <a:ext cx="1499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kern="0" spc="40" dirty="0">
                <a:solidFill>
                  <a:srgbClr val="38D39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GPT CADDY · LAPTOP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388352" y="2304288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Durable control</a:t>
            </a:r>
            <a:endParaRPr lang="en-US" sz="2500" dirty="0"/>
          </a:p>
        </p:txBody>
      </p:sp>
      <p:sp>
        <p:nvSpPr>
          <p:cNvPr id="20" name="Text 18"/>
          <p:cNvSpPr/>
          <p:nvPr/>
        </p:nvSpPr>
        <p:spPr>
          <a:xfrm>
            <a:off x="7388352" y="2944368"/>
            <a:ext cx="36118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launch  ·  monitor  ·  diagnose</a:t>
            </a:r>
            <a:endParaRPr lang="en-US" sz="1900" dirty="0"/>
          </a:p>
          <a:p>
            <a:r>
              <a:rPr lang="en-US" sz="1900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store results · compare runs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7388352" y="440740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8D39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Local. Persistent. 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 flipH="1" flipV="1">
            <a:off x="5294376" y="2404872"/>
            <a:ext cx="1545336" cy="18289"/>
          </a:xfrm>
          <a:prstGeom prst="line">
            <a:avLst/>
          </a:prstGeom>
          <a:noFill/>
          <a:ln w="27940">
            <a:solidFill>
              <a:srgbClr val="4AA3F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422392" y="213055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AA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launch / control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294376" y="3858767"/>
            <a:ext cx="1545336" cy="18289"/>
          </a:xfrm>
          <a:prstGeom prst="line">
            <a:avLst/>
          </a:prstGeom>
          <a:noFill/>
          <a:ln w="27940">
            <a:solidFill>
              <a:srgbClr val="38D39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184648" y="39319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8D39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events · logs · snapshots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49808" y="5257800"/>
            <a:ext cx="10680192" cy="658368"/>
          </a:xfrm>
          <a:prstGeom prst="roundRect">
            <a:avLst>
              <a:gd name="adj" fmla="val 11111"/>
            </a:avLst>
          </a:prstGeom>
          <a:solidFill>
            <a:srgbClr val="0B1C2B"/>
          </a:solidFill>
          <a:ln w="13970">
            <a:solidFill>
              <a:srgbClr val="1D31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051560" y="545896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pod can disappear. The durable run history survives.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38360" y="0"/>
            <a:ext cx="2450592" cy="2450592"/>
          </a:xfrm>
          <a:prstGeom prst="ellipse">
            <a:avLst/>
          </a:prstGeom>
          <a:solidFill>
            <a:srgbClr val="38D39F">
              <a:alpha val="8000"/>
            </a:srgbClr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230368"/>
            <a:ext cx="1691640" cy="1627632"/>
          </a:xfrm>
          <a:prstGeom prst="ellipse">
            <a:avLst/>
          </a:prstGeom>
          <a:solidFill>
            <a:srgbClr val="4FC3E6">
              <a:alpha val="5000"/>
            </a:srgbClr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66928" y="493776"/>
            <a:ext cx="73152" cy="310896"/>
          </a:xfrm>
          <a:prstGeom prst="roundRect">
            <a:avLst>
              <a:gd name="adj" fmla="val 50000"/>
            </a:avLst>
          </a:prstGeom>
          <a:solidFill>
            <a:srgbClr val="4AA3FF"/>
          </a:solidFill>
          <a:ln w="12700">
            <a:solidFill>
              <a:srgbClr val="4AA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9808" y="4846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4AA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49808" y="676656"/>
            <a:ext cx="10561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66928" y="6446520"/>
            <a:ext cx="11064240" cy="0"/>
          </a:xfrm>
          <a:prstGeom prst="line">
            <a:avLst/>
          </a:prstGeom>
          <a:noFill/>
          <a:ln w="10160">
            <a:solidFill>
              <a:srgbClr val="1D31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66928" y="651967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80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GPT Caddy  ·  Stellar Science demo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109960" y="650138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0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49808" y="1554480"/>
            <a:ext cx="5175504" cy="3456432"/>
          </a:xfrm>
          <a:prstGeom prst="roundRect">
            <a:avLst>
              <a:gd name="adj" fmla="val 2116"/>
            </a:avLst>
          </a:prstGeom>
          <a:solidFill>
            <a:srgbClr val="0D1A2D"/>
          </a:solidFill>
          <a:ln w="13970">
            <a:solidFill>
              <a:srgbClr val="2943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69848" y="1792224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8D39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6×+ faster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1069848" y="230428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tokenization</a:t>
            </a:r>
            <a:endParaRPr lang="en-US" sz="2300" dirty="0"/>
          </a:p>
        </p:txBody>
      </p:sp>
      <p:sp>
        <p:nvSpPr>
          <p:cNvPr id="13" name="Shape 11"/>
          <p:cNvSpPr/>
          <p:nvPr/>
        </p:nvSpPr>
        <p:spPr>
          <a:xfrm>
            <a:off x="4014216" y="1600200"/>
            <a:ext cx="1783080" cy="301752"/>
          </a:xfrm>
          <a:prstGeom prst="roundRect">
            <a:avLst>
              <a:gd name="adj" fmla="val 48485"/>
            </a:avLst>
          </a:prstGeom>
          <a:solidFill>
            <a:srgbClr val="4AA3FF">
              <a:alpha val="16000"/>
            </a:srgbClr>
          </a:solidFill>
          <a:ln w="12700">
            <a:solidFill>
              <a:srgbClr val="4AA3FF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087368" y="1636776"/>
            <a:ext cx="1636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kern="0" spc="40" dirty="0">
                <a:solidFill>
                  <a:srgbClr val="4AA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SENTENCEPIECE FORK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069848" y="2852928"/>
            <a:ext cx="4526280" cy="0"/>
          </a:xfrm>
          <a:prstGeom prst="line">
            <a:avLst/>
          </a:prstGeom>
          <a:noFill/>
          <a:ln w="12700">
            <a:solidFill>
              <a:srgbClr val="2943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69848" y="3139123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10B tokens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240280" y="3072384"/>
            <a:ext cx="3127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20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Over 1 hour  →  8-10 minutes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069848" y="3767328"/>
            <a:ext cx="21127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4FC3E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~50% less memory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069848" y="4206240"/>
            <a:ext cx="4434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Parallel buffering + divide-and-conquer the corpus.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245352" y="1554480"/>
            <a:ext cx="5184648" cy="3456432"/>
          </a:xfrm>
          <a:prstGeom prst="roundRect">
            <a:avLst>
              <a:gd name="adj" fmla="val 2116"/>
            </a:avLst>
          </a:prstGeom>
          <a:solidFill>
            <a:srgbClr val="132640"/>
          </a:solidFill>
          <a:ln w="13970">
            <a:solidFill>
              <a:srgbClr val="4AA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11"/>
          <p:cNvSpPr/>
          <p:nvPr/>
        </p:nvSpPr>
        <p:spPr>
          <a:xfrm>
            <a:off x="9648120" y="1600200"/>
            <a:ext cx="1655064" cy="301752"/>
          </a:xfrm>
          <a:prstGeom prst="roundRect">
            <a:avLst>
              <a:gd name="adj" fmla="val 48485"/>
            </a:avLst>
          </a:prstGeom>
          <a:solidFill>
            <a:srgbClr val="38D39F">
              <a:alpha val="16000"/>
            </a:srgbClr>
          </a:solidFill>
          <a:ln w="12700">
            <a:solidFill>
              <a:srgbClr val="38D39F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766992" y="165049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70" dirty="0">
                <a:solidFill>
                  <a:srgbClr val="38D39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CUDA / LOADER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565392" y="1901952"/>
            <a:ext cx="4343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4AA3FF"/>
                </a:solidFill>
                <a:latin typeface="Aptos Display" pitchFamily="34" charset="0"/>
              </a:rPr>
              <a:t>&lt;2GB Container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6565392" y="239572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Faster starts.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6565392" y="2852928"/>
            <a:ext cx="4526280" cy="0"/>
          </a:xfrm>
          <a:prstGeom prst="line">
            <a:avLst/>
          </a:prstGeom>
          <a:noFill/>
          <a:ln w="12700">
            <a:solidFill>
              <a:srgbClr val="2943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565392" y="3471631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16 KB stubs satisfy the loader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6780276" y="3764239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FC3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~500 MB FFT / sparse  +  ~206 MB NCCL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565392" y="4105656"/>
            <a:ext cx="4462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Derived from the installed Torch binary. </a:t>
            </a:r>
          </a:p>
          <a:p>
            <a:pPr marL="0" indent="0">
              <a:buNone/>
            </a:pPr>
            <a:r>
              <a:rPr lang="en-US" sz="1500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Multi-GPU restores missing deps.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749808" y="5285232"/>
            <a:ext cx="10680192" cy="621792"/>
          </a:xfrm>
          <a:prstGeom prst="roundRect">
            <a:avLst>
              <a:gd name="adj" fmla="val 11765"/>
            </a:avLst>
          </a:prstGeom>
          <a:solidFill>
            <a:srgbClr val="0B1C2B"/>
          </a:solidFill>
          <a:ln w="13970">
            <a:solidFill>
              <a:srgbClr val="1D31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051560" y="547725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Multi-tier build. Bake CUDA/Torch once. Add new deps in seconds.</a:t>
            </a:r>
            <a:endParaRPr lang="en-US" sz="1900" dirty="0"/>
          </a:p>
        </p:txBody>
      </p:sp>
      <p:sp>
        <p:nvSpPr>
          <p:cNvPr id="32" name="Text 23">
            <a:extLst>
              <a:ext uri="{FF2B5EF4-FFF2-40B4-BE49-F238E27FC236}">
                <a16:creationId xmlns:a16="http://schemas.microsoft.com/office/drawing/2014/main" id="{F8311780-8B0D-5BB7-9949-584DA8CC83A8}"/>
              </a:ext>
            </a:extLst>
          </p:cNvPr>
          <p:cNvSpPr/>
          <p:nvPr/>
        </p:nvSpPr>
        <p:spPr>
          <a:xfrm>
            <a:off x="6565392" y="2994302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20% the size of “full” distro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38360" y="0"/>
            <a:ext cx="2450592" cy="2450592"/>
          </a:xfrm>
          <a:prstGeom prst="ellipse">
            <a:avLst/>
          </a:prstGeom>
          <a:solidFill>
            <a:srgbClr val="4AA3FF">
              <a:alpha val="8000"/>
            </a:srgbClr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230368"/>
            <a:ext cx="1691640" cy="1627632"/>
          </a:xfrm>
          <a:prstGeom prst="ellipse">
            <a:avLst/>
          </a:prstGeom>
          <a:solidFill>
            <a:srgbClr val="4FC3E6">
              <a:alpha val="5000"/>
            </a:srgbClr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66928" y="493776"/>
            <a:ext cx="73152" cy="310896"/>
          </a:xfrm>
          <a:prstGeom prst="roundRect">
            <a:avLst>
              <a:gd name="adj" fmla="val 50000"/>
            </a:avLst>
          </a:prstGeom>
          <a:solidFill>
            <a:srgbClr val="4AA3FF"/>
          </a:solidFill>
          <a:ln w="12700">
            <a:solidFill>
              <a:srgbClr val="4AA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9808" y="4846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4AA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49808" y="676656"/>
            <a:ext cx="10561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small event path keeps the live view honest.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66928" y="6446520"/>
            <a:ext cx="11064240" cy="0"/>
          </a:xfrm>
          <a:prstGeom prst="line">
            <a:avLst/>
          </a:prstGeom>
          <a:noFill/>
          <a:ln w="10160">
            <a:solidFill>
              <a:srgbClr val="1D31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66928" y="651967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80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GPT Caddy  ·  Stellar Science demo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109960" y="650138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0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49808" y="1719072"/>
            <a:ext cx="2450592" cy="2057400"/>
          </a:xfrm>
          <a:prstGeom prst="roundRect">
            <a:avLst>
              <a:gd name="adj" fmla="val 3556"/>
            </a:avLst>
          </a:prstGeom>
          <a:solidFill>
            <a:srgbClr val="0D1A2D"/>
          </a:solidFill>
          <a:ln w="12700">
            <a:solidFill>
              <a:srgbClr val="4AA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950976" y="1920240"/>
            <a:ext cx="804672" cy="301752"/>
          </a:xfrm>
          <a:prstGeom prst="roundRect">
            <a:avLst>
              <a:gd name="adj" fmla="val 48485"/>
            </a:avLst>
          </a:prstGeom>
          <a:solidFill>
            <a:srgbClr val="4AA3FF">
              <a:alpha val="17000"/>
            </a:srgbClr>
          </a:solidFill>
          <a:ln w="12700">
            <a:solidFill>
              <a:srgbClr val="4AA3FF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24128" y="197053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kern="0" spc="40" dirty="0">
                <a:solidFill>
                  <a:srgbClr val="4AA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POD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950976" y="2377440"/>
            <a:ext cx="20482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Event daemon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05840" y="2862072"/>
            <a:ext cx="19385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events · logs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snapshots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255264" y="2734056"/>
            <a:ext cx="210312" cy="0"/>
          </a:xfrm>
          <a:prstGeom prst="line">
            <a:avLst/>
          </a:prstGeom>
          <a:noFill/>
          <a:ln w="22860">
            <a:solidFill>
              <a:srgbClr val="4FC3E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511296" y="1719072"/>
            <a:ext cx="2450592" cy="2057400"/>
          </a:xfrm>
          <a:prstGeom prst="roundRect">
            <a:avLst>
              <a:gd name="adj" fmla="val 3556"/>
            </a:avLst>
          </a:prstGeom>
          <a:solidFill>
            <a:srgbClr val="0D1A2D"/>
          </a:solidFill>
          <a:ln w="12700">
            <a:solidFill>
              <a:srgbClr val="4FC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712464" y="1920240"/>
            <a:ext cx="804672" cy="301752"/>
          </a:xfrm>
          <a:prstGeom prst="roundRect">
            <a:avLst>
              <a:gd name="adj" fmla="val 48485"/>
            </a:avLst>
          </a:prstGeom>
          <a:solidFill>
            <a:srgbClr val="4FC3E6">
              <a:alpha val="17000"/>
            </a:srgbClr>
          </a:solidFill>
          <a:ln w="12700">
            <a:solidFill>
              <a:srgbClr val="4FC3E6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785616" y="197053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kern="0" spc="40" dirty="0">
                <a:solidFill>
                  <a:srgbClr val="4FC3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WIRE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712464" y="2377440"/>
            <a:ext cx="20482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Authenticated JSONL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767328" y="2862072"/>
            <a:ext cx="19385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 proxy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per-run token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016752" y="2734056"/>
            <a:ext cx="210312" cy="0"/>
          </a:xfrm>
          <a:prstGeom prst="line">
            <a:avLst/>
          </a:prstGeom>
          <a:noFill/>
          <a:ln w="22860">
            <a:solidFill>
              <a:srgbClr val="38D39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272784" y="1719072"/>
            <a:ext cx="2450592" cy="2057400"/>
          </a:xfrm>
          <a:prstGeom prst="roundRect">
            <a:avLst>
              <a:gd name="adj" fmla="val 3556"/>
            </a:avLst>
          </a:prstGeom>
          <a:solidFill>
            <a:srgbClr val="132640"/>
          </a:solidFill>
          <a:ln w="19050">
            <a:solidFill>
              <a:srgbClr val="38D3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473952" y="1920240"/>
            <a:ext cx="804672" cy="301752"/>
          </a:xfrm>
          <a:prstGeom prst="roundRect">
            <a:avLst>
              <a:gd name="adj" fmla="val 48485"/>
            </a:avLst>
          </a:prstGeom>
          <a:solidFill>
            <a:srgbClr val="38D39F">
              <a:alpha val="17000"/>
            </a:srgbClr>
          </a:solidFill>
          <a:ln w="12700">
            <a:solidFill>
              <a:srgbClr val="38D39F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547104" y="197053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kern="0" spc="40" dirty="0">
                <a:solidFill>
                  <a:srgbClr val="38D39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LAPTOP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473952" y="2377440"/>
            <a:ext cx="20482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Event pipeline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528816" y="2862072"/>
            <a:ext cx="19385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 · fan-out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diagnose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8778240" y="2734056"/>
            <a:ext cx="210312" cy="0"/>
          </a:xfrm>
          <a:prstGeom prst="line">
            <a:avLst/>
          </a:prstGeom>
          <a:noFill/>
          <a:ln w="22860">
            <a:solidFill>
              <a:srgbClr val="F4C65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9034272" y="1719072"/>
            <a:ext cx="2450592" cy="2057400"/>
          </a:xfrm>
          <a:prstGeom prst="roundRect">
            <a:avLst>
              <a:gd name="adj" fmla="val 3556"/>
            </a:avLst>
          </a:prstGeom>
          <a:solidFill>
            <a:srgbClr val="0D1A2D"/>
          </a:solidFill>
          <a:ln w="12700">
            <a:solidFill>
              <a:srgbClr val="F4C6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9235440" y="1920240"/>
            <a:ext cx="804672" cy="301752"/>
          </a:xfrm>
          <a:prstGeom prst="roundRect">
            <a:avLst>
              <a:gd name="adj" fmla="val 48485"/>
            </a:avLst>
          </a:prstGeom>
          <a:solidFill>
            <a:srgbClr val="F4C65D">
              <a:alpha val="17000"/>
            </a:srgbClr>
          </a:solidFill>
          <a:ln w="12700">
            <a:solidFill>
              <a:srgbClr val="F4C65D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9308592" y="197053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kern="0" spc="40" dirty="0">
                <a:solidFill>
                  <a:srgbClr val="F4C6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BROWSER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9235440" y="2377440"/>
            <a:ext cx="20482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Live view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9290304" y="2862072"/>
            <a:ext cx="19385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charts · cards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status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749808" y="4224528"/>
            <a:ext cx="3310128" cy="1097280"/>
          </a:xfrm>
          <a:prstGeom prst="roundRect">
            <a:avLst>
              <a:gd name="adj" fmla="val 6667"/>
            </a:avLst>
          </a:prstGeom>
          <a:solidFill>
            <a:srgbClr val="0B1C2B"/>
          </a:solidFill>
          <a:ln w="13970">
            <a:solidFill>
              <a:srgbClr val="1D31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969264" y="4507992"/>
            <a:ext cx="128016" cy="128016"/>
          </a:xfrm>
          <a:prstGeom prst="ellipse">
            <a:avLst/>
          </a:prstGeom>
          <a:solidFill>
            <a:srgbClr val="4AA3FF"/>
          </a:solidFill>
          <a:ln w="12700">
            <a:solidFill>
              <a:srgbClr val="4AA3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1188720" y="4418332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Boots before dependencies</a:t>
            </a:r>
            <a:endParaRPr lang="en-US" sz="1700" dirty="0"/>
          </a:p>
        </p:txBody>
      </p:sp>
      <p:sp>
        <p:nvSpPr>
          <p:cNvPr id="36" name="Text 34"/>
          <p:cNvSpPr/>
          <p:nvPr/>
        </p:nvSpPr>
        <p:spPr>
          <a:xfrm>
            <a:off x="1188720" y="4736592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stdlib-only daemon</a:t>
            </a:r>
            <a:endParaRPr lang="en-US" sz="1350" dirty="0"/>
          </a:p>
        </p:txBody>
      </p:sp>
      <p:sp>
        <p:nvSpPr>
          <p:cNvPr id="37" name="Shape 35"/>
          <p:cNvSpPr/>
          <p:nvPr/>
        </p:nvSpPr>
        <p:spPr>
          <a:xfrm>
            <a:off x="4315968" y="4224528"/>
            <a:ext cx="3310128" cy="1097280"/>
          </a:xfrm>
          <a:prstGeom prst="roundRect">
            <a:avLst>
              <a:gd name="adj" fmla="val 6667"/>
            </a:avLst>
          </a:prstGeom>
          <a:solidFill>
            <a:srgbClr val="0B1C2B"/>
          </a:solidFill>
          <a:ln w="13970">
            <a:solidFill>
              <a:srgbClr val="1D31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4535424" y="4507992"/>
            <a:ext cx="128016" cy="128016"/>
          </a:xfrm>
          <a:prstGeom prst="ellipse">
            <a:avLst/>
          </a:prstGeom>
          <a:solidFill>
            <a:srgbClr val="38D39F"/>
          </a:solidFill>
          <a:ln w="12700">
            <a:solidFill>
              <a:srgbClr val="38D39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754880" y="4418332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Every event is durable</a:t>
            </a:r>
            <a:endParaRPr lang="en-US" sz="1700" dirty="0"/>
          </a:p>
        </p:txBody>
      </p:sp>
      <p:sp>
        <p:nvSpPr>
          <p:cNvPr id="40" name="Text 38"/>
          <p:cNvSpPr/>
          <p:nvPr/>
        </p:nvSpPr>
        <p:spPr>
          <a:xfrm>
            <a:off x="4754880" y="4736592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persisted to SQLite</a:t>
            </a:r>
            <a:endParaRPr lang="en-US" sz="1350" dirty="0"/>
          </a:p>
        </p:txBody>
      </p:sp>
      <p:sp>
        <p:nvSpPr>
          <p:cNvPr id="41" name="Shape 39"/>
          <p:cNvSpPr/>
          <p:nvPr/>
        </p:nvSpPr>
        <p:spPr>
          <a:xfrm>
            <a:off x="7882128" y="4224528"/>
            <a:ext cx="3310128" cy="1097280"/>
          </a:xfrm>
          <a:prstGeom prst="roundRect">
            <a:avLst>
              <a:gd name="adj" fmla="val 6667"/>
            </a:avLst>
          </a:prstGeom>
          <a:solidFill>
            <a:srgbClr val="0B1C2B"/>
          </a:solidFill>
          <a:ln w="13970">
            <a:solidFill>
              <a:srgbClr val="1D31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8101584" y="4507992"/>
            <a:ext cx="128016" cy="128016"/>
          </a:xfrm>
          <a:prstGeom prst="ellipse">
            <a:avLst/>
          </a:prstGeom>
          <a:solidFill>
            <a:srgbClr val="F4C65D"/>
          </a:solidFill>
          <a:ln w="12700">
            <a:solidFill>
              <a:srgbClr val="F4C65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8309403" y="4444813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 stream, three uses</a:t>
            </a:r>
            <a:endParaRPr lang="en-US" sz="1700" dirty="0"/>
          </a:p>
        </p:txBody>
      </p:sp>
      <p:sp>
        <p:nvSpPr>
          <p:cNvPr id="44" name="Text 42"/>
          <p:cNvSpPr/>
          <p:nvPr/>
        </p:nvSpPr>
        <p:spPr>
          <a:xfrm>
            <a:off x="8321040" y="4736592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browser · history · diagnostics</a:t>
            </a:r>
            <a:endParaRPr lang="en-US" sz="1350" dirty="0"/>
          </a:p>
        </p:txBody>
      </p:sp>
      <p:sp>
        <p:nvSpPr>
          <p:cNvPr id="45" name="Text 43"/>
          <p:cNvSpPr/>
          <p:nvPr/>
        </p:nvSpPr>
        <p:spPr>
          <a:xfrm>
            <a:off x="1042416" y="5532120"/>
            <a:ext cx="10104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4FC3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Pod → authenticate → laptop → browser / persistence / diagnostics / monitoring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38360" y="0"/>
            <a:ext cx="2450592" cy="2450592"/>
          </a:xfrm>
          <a:prstGeom prst="ellipse">
            <a:avLst/>
          </a:prstGeom>
          <a:solidFill>
            <a:srgbClr val="38D39F">
              <a:alpha val="8000"/>
            </a:srgbClr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230368"/>
            <a:ext cx="1691640" cy="1627632"/>
          </a:xfrm>
          <a:prstGeom prst="ellipse">
            <a:avLst/>
          </a:prstGeom>
          <a:solidFill>
            <a:srgbClr val="4FC3E6">
              <a:alpha val="5000"/>
            </a:srgbClr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66928" y="493776"/>
            <a:ext cx="73152" cy="310896"/>
          </a:xfrm>
          <a:prstGeom prst="roundRect">
            <a:avLst>
              <a:gd name="adj" fmla="val 50000"/>
            </a:avLst>
          </a:prstGeom>
          <a:solidFill>
            <a:srgbClr val="38D39F"/>
          </a:solidFill>
          <a:ln w="12700">
            <a:solidFill>
              <a:srgbClr val="38D3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9808" y="4846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38D39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49808" y="676656"/>
            <a:ext cx="10561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Watch three things move.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66928" y="6446520"/>
            <a:ext cx="11064240" cy="0"/>
          </a:xfrm>
          <a:prstGeom prst="line">
            <a:avLst/>
          </a:prstGeom>
          <a:noFill/>
          <a:ln w="10160">
            <a:solidFill>
              <a:srgbClr val="1D31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66928" y="651967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80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GPT Caddy  ·  Stellar Science demo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109960" y="650138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0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900" dirty="0"/>
          </a:p>
        </p:txBody>
      </p:sp>
      <p:sp>
        <p:nvSpPr>
          <p:cNvPr id="10" name="Rounded Rectangle 9"/>
          <p:cNvSpPr/>
          <p:nvPr/>
        </p:nvSpPr>
        <p:spPr>
          <a:xfrm>
            <a:off x="749808" y="1417320"/>
            <a:ext cx="2770632" cy="1170432"/>
          </a:xfrm>
          <a:prstGeom prst="roundRect">
            <a:avLst/>
          </a:prstGeom>
          <a:solidFill>
            <a:srgbClr val="0D1A2D"/>
          </a:solidFill>
          <a:ln w="13970">
            <a:solidFill>
              <a:srgbClr val="4A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14400" y="1581912"/>
            <a:ext cx="438912" cy="256032"/>
          </a:xfrm>
          <a:prstGeom prst="roundRect">
            <a:avLst/>
          </a:prstGeom>
          <a:solidFill>
            <a:srgbClr val="132640"/>
          </a:solidFill>
          <a:ln w="6350">
            <a:solidFill>
              <a:srgbClr val="132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1586484"/>
            <a:ext cx="438912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4AA3FF"/>
                </a:solidFill>
                <a:latin typeface="Apto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1920240"/>
            <a:ext cx="2441448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F4F7FC"/>
                </a:solidFill>
                <a:latin typeface="Aptos Display"/>
              </a:rPr>
              <a:t>Race vs baseline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276856"/>
            <a:ext cx="244144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8FA3C4"/>
                </a:solidFill>
                <a:latin typeface="Aptos"/>
              </a:rPr>
              <a:t>Ahead or behind at the same budget?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8" y="2761488"/>
            <a:ext cx="2770632" cy="1170432"/>
          </a:xfrm>
          <a:prstGeom prst="roundRect">
            <a:avLst/>
          </a:prstGeom>
          <a:solidFill>
            <a:srgbClr val="0D1A2D"/>
          </a:solidFill>
          <a:ln w="13970">
            <a:solidFill>
              <a:srgbClr val="F4C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914400" y="2926080"/>
            <a:ext cx="438912" cy="256032"/>
          </a:xfrm>
          <a:prstGeom prst="roundRect">
            <a:avLst/>
          </a:prstGeom>
          <a:solidFill>
            <a:srgbClr val="132640"/>
          </a:solidFill>
          <a:ln w="6350">
            <a:solidFill>
              <a:srgbClr val="132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2930652"/>
            <a:ext cx="438912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F4C65D"/>
                </a:solidFill>
                <a:latin typeface="Aptos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264408"/>
            <a:ext cx="2441448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F4F7FC"/>
                </a:solidFill>
                <a:latin typeface="Aptos Display"/>
              </a:rPr>
              <a:t>Cost in real time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621024"/>
            <a:ext cx="244144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8FA3C4"/>
                </a:solidFill>
                <a:latin typeface="Aptos"/>
              </a:rPr>
              <a:t>Meter ticks; the pod stops itself.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4105656"/>
            <a:ext cx="2770632" cy="1170432"/>
          </a:xfrm>
          <a:prstGeom prst="roundRect">
            <a:avLst/>
          </a:prstGeom>
          <a:solidFill>
            <a:srgbClr val="0D1A2D"/>
          </a:solidFill>
          <a:ln w="13970">
            <a:solidFill>
              <a:srgbClr val="38D3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914400" y="4270248"/>
            <a:ext cx="438912" cy="256032"/>
          </a:xfrm>
          <a:prstGeom prst="roundRect">
            <a:avLst/>
          </a:prstGeom>
          <a:solidFill>
            <a:srgbClr val="132640"/>
          </a:solidFill>
          <a:ln w="6350">
            <a:solidFill>
              <a:srgbClr val="132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00" y="4274820"/>
            <a:ext cx="438912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38D39F"/>
                </a:solidFill>
                <a:latin typeface="Aptos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608576"/>
            <a:ext cx="2441448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F4F7FC"/>
                </a:solidFill>
                <a:latin typeface="Aptos Display"/>
              </a:rPr>
              <a:t>Model health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965192"/>
            <a:ext cx="2441448" cy="1585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 dirty="0">
                <a:solidFill>
                  <a:srgbClr val="8FA3C4"/>
                </a:solidFill>
                <a:latin typeface="Aptos"/>
              </a:rPr>
              <a:t>Metrics live; </a:t>
            </a:r>
            <a:r>
              <a:rPr lang="en-US" sz="1030" dirty="0">
                <a:solidFill>
                  <a:srgbClr val="8FA3C4"/>
                </a:solidFill>
                <a:latin typeface="Aptos"/>
              </a:rPr>
              <a:t>probe</a:t>
            </a:r>
            <a:r>
              <a:rPr sz="1030" b="0" i="0" dirty="0">
                <a:solidFill>
                  <a:srgbClr val="8FA3C4"/>
                </a:solidFill>
                <a:latin typeface="Aptos"/>
              </a:rPr>
              <a:t> runs off-GPU.</a:t>
            </a:r>
          </a:p>
        </p:txBody>
      </p:sp>
      <p:pic>
        <p:nvPicPr>
          <p:cNvPr id="25" name="Picture 24" descr="live-u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9039" y="1371600"/>
            <a:ext cx="7735824" cy="4334256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3749039" y="5779008"/>
            <a:ext cx="7735824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0" b="1" i="0">
                <a:solidFill>
                  <a:srgbClr val="38D39F"/>
                </a:solidFill>
                <a:latin typeface="Aptos"/>
              </a:rPr>
              <a:t>A real run, updating now. The slide is only the map.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38360" y="0"/>
            <a:ext cx="2450592" cy="2450592"/>
          </a:xfrm>
          <a:prstGeom prst="ellipse">
            <a:avLst/>
          </a:prstGeom>
          <a:solidFill>
            <a:srgbClr val="38D39F">
              <a:alpha val="8000"/>
            </a:srgbClr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230368"/>
            <a:ext cx="1691640" cy="1627632"/>
          </a:xfrm>
          <a:prstGeom prst="ellipse">
            <a:avLst/>
          </a:prstGeom>
          <a:solidFill>
            <a:srgbClr val="4FC3E6">
              <a:alpha val="5000"/>
            </a:srgbClr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66928" y="493776"/>
            <a:ext cx="73152" cy="310896"/>
          </a:xfrm>
          <a:prstGeom prst="roundRect">
            <a:avLst>
              <a:gd name="adj" fmla="val 50000"/>
            </a:avLst>
          </a:prstGeom>
          <a:solidFill>
            <a:srgbClr val="38D39F"/>
          </a:solidFill>
          <a:ln w="12700">
            <a:solidFill>
              <a:srgbClr val="38D3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9808" y="4846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38D39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DIAGNOSE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49808" y="676656"/>
            <a:ext cx="10561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diagnostics check their own arithmetic.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66928" y="6446520"/>
            <a:ext cx="11064240" cy="0"/>
          </a:xfrm>
          <a:prstGeom prst="line">
            <a:avLst/>
          </a:prstGeom>
          <a:noFill/>
          <a:ln w="10160">
            <a:solidFill>
              <a:srgbClr val="1D31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66928" y="651967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80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GPT Caddy  ·  Stellar Science demo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109960" y="650138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0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900" dirty="0"/>
          </a:p>
        </p:txBody>
      </p:sp>
      <p:sp>
        <p:nvSpPr>
          <p:cNvPr id="10" name="Rounded Rectangle 9"/>
          <p:cNvSpPr/>
          <p:nvPr/>
        </p:nvSpPr>
        <p:spPr>
          <a:xfrm>
            <a:off x="749808" y="1353312"/>
            <a:ext cx="3364992" cy="603504"/>
          </a:xfrm>
          <a:prstGeom prst="roundRect">
            <a:avLst/>
          </a:prstGeom>
          <a:solidFill>
            <a:srgbClr val="0D1A2D"/>
          </a:solidFill>
          <a:ln w="12700">
            <a:solidFill>
              <a:srgbClr val="38D3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77824" y="1517904"/>
            <a:ext cx="365760" cy="256032"/>
          </a:xfrm>
          <a:prstGeom prst="roundRect">
            <a:avLst/>
          </a:prstGeom>
          <a:solidFill>
            <a:srgbClr val="132640"/>
          </a:solidFill>
          <a:ln w="6350">
            <a:solidFill>
              <a:srgbClr val="132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77824" y="1517904"/>
            <a:ext cx="36576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38D39F"/>
                </a:solidFill>
                <a:latin typeface="Apto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62456" y="1475773"/>
            <a:ext cx="1600200" cy="20313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 dirty="0">
                <a:solidFill>
                  <a:srgbClr val="38D39F"/>
                </a:solidFill>
                <a:latin typeface="Aptos Display"/>
              </a:rPr>
              <a:t>RE</a:t>
            </a:r>
            <a:r>
              <a:rPr lang="en-US" sz="1320" b="1" i="0" dirty="0">
                <a:solidFill>
                  <a:srgbClr val="38D39F"/>
                </a:solidFill>
                <a:latin typeface="Aptos Display"/>
              </a:rPr>
              <a:t>-</a:t>
            </a:r>
            <a:r>
              <a:rPr sz="1320" b="1" i="0" dirty="0">
                <a:solidFill>
                  <a:srgbClr val="38D39F"/>
                </a:solidFill>
                <a:latin typeface="Aptos Display"/>
              </a:rPr>
              <a:t>COMPUTE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24327" y="1463040"/>
            <a:ext cx="132588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FA3C4"/>
                </a:solidFill>
                <a:latin typeface="Aptos"/>
              </a:rPr>
              <a:t>layer outputs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07408" y="1353312"/>
            <a:ext cx="3364992" cy="603504"/>
          </a:xfrm>
          <a:prstGeom prst="roundRect">
            <a:avLst/>
          </a:prstGeom>
          <a:solidFill>
            <a:srgbClr val="0D1A2D"/>
          </a:solidFill>
          <a:ln w="12700">
            <a:solidFill>
              <a:srgbClr val="38D3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535424" y="1517904"/>
            <a:ext cx="365760" cy="256032"/>
          </a:xfrm>
          <a:prstGeom prst="roundRect">
            <a:avLst/>
          </a:prstGeom>
          <a:solidFill>
            <a:srgbClr val="132640"/>
          </a:solidFill>
          <a:ln w="6350">
            <a:solidFill>
              <a:srgbClr val="132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35424" y="1517904"/>
            <a:ext cx="36576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38D39F"/>
                </a:solidFill>
                <a:latin typeface="Aptos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0056" y="1463040"/>
            <a:ext cx="16002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38D39F"/>
                </a:solidFill>
                <a:latin typeface="Aptos Display"/>
              </a:rPr>
              <a:t>RE-DERIVE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81928" y="1463040"/>
            <a:ext cx="132588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FA3C4"/>
                </a:solidFill>
                <a:latin typeface="Aptos"/>
              </a:rPr>
              <a:t>loss independently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65008" y="1353312"/>
            <a:ext cx="3364992" cy="603504"/>
          </a:xfrm>
          <a:prstGeom prst="roundRect">
            <a:avLst/>
          </a:prstGeom>
          <a:solidFill>
            <a:srgbClr val="0D1A2D"/>
          </a:solidFill>
          <a:ln w="12700">
            <a:solidFill>
              <a:srgbClr val="38D3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193024" y="1517904"/>
            <a:ext cx="365760" cy="256032"/>
          </a:xfrm>
          <a:prstGeom prst="roundRect">
            <a:avLst/>
          </a:prstGeom>
          <a:solidFill>
            <a:srgbClr val="132640"/>
          </a:solidFill>
          <a:ln w="6350">
            <a:solidFill>
              <a:srgbClr val="132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193024" y="1517904"/>
            <a:ext cx="36576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38D39F"/>
                </a:solidFill>
                <a:latin typeface="Aptos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77656" y="1463040"/>
            <a:ext cx="16002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38D39F"/>
                </a:solidFill>
                <a:latin typeface="Aptos Display"/>
              </a:rPr>
              <a:t>CROSS-CHECK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39528" y="1463040"/>
            <a:ext cx="132588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FA3C4"/>
                </a:solidFill>
                <a:latin typeface="Aptos"/>
              </a:rPr>
              <a:t>BPB vs on-pod eval</a:t>
            </a:r>
          </a:p>
        </p:txBody>
      </p:sp>
      <p:pic>
        <p:nvPicPr>
          <p:cNvPr id="25" name="Picture 24" descr="diagnostics-u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2029968"/>
            <a:ext cx="10844784" cy="3547872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749808" y="5650992"/>
            <a:ext cx="10680192" cy="420624"/>
          </a:xfrm>
          <a:prstGeom prst="roundRect">
            <a:avLst/>
          </a:prstGeom>
          <a:solidFill>
            <a:srgbClr val="0B2B28"/>
          </a:solidFill>
          <a:ln w="12700">
            <a:solidFill>
              <a:srgbClr val="38D3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87552" y="5743033"/>
            <a:ext cx="10204704" cy="1908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40" b="1" i="0" dirty="0">
                <a:solidFill>
                  <a:srgbClr val="F4F7FC"/>
                </a:solidFill>
                <a:latin typeface="Aptos"/>
              </a:rPr>
              <a:t>GPU trains.  Laptop audits.  </a:t>
            </a:r>
            <a:r>
              <a:rPr lang="en-US" sz="1240" b="1" i="0" dirty="0">
                <a:solidFill>
                  <a:srgbClr val="F4F7FC"/>
                </a:solidFill>
                <a:latin typeface="Aptos"/>
              </a:rPr>
              <a:t>Monitor progress without slowing down</a:t>
            </a:r>
            <a:r>
              <a:rPr sz="1240" b="1" i="0" dirty="0">
                <a:solidFill>
                  <a:srgbClr val="F4F7FC"/>
                </a:solidFill>
                <a:latin typeface="Aptos"/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38360" y="0"/>
            <a:ext cx="2450592" cy="2450592"/>
          </a:xfrm>
          <a:prstGeom prst="ellipse">
            <a:avLst/>
          </a:prstGeom>
          <a:solidFill>
            <a:srgbClr val="4AA3FF">
              <a:alpha val="8000"/>
            </a:srgbClr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5230368"/>
            <a:ext cx="1691640" cy="1627632"/>
          </a:xfrm>
          <a:prstGeom prst="ellipse">
            <a:avLst/>
          </a:prstGeom>
          <a:solidFill>
            <a:srgbClr val="4FC3E6">
              <a:alpha val="5000"/>
            </a:srgbClr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566928" y="493776"/>
            <a:ext cx="73152" cy="310896"/>
          </a:xfrm>
          <a:prstGeom prst="roundRect">
            <a:avLst>
              <a:gd name="adj" fmla="val 50000"/>
            </a:avLst>
          </a:prstGeom>
          <a:solidFill>
            <a:srgbClr val="4AA3FF"/>
          </a:solidFill>
          <a:ln w="12700">
            <a:solidFill>
              <a:srgbClr val="4AA3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749808" y="4846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4AA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49808" y="676656"/>
            <a:ext cx="10561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Did my change help?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66928" y="6446520"/>
            <a:ext cx="11064240" cy="0"/>
          </a:xfrm>
          <a:prstGeom prst="line">
            <a:avLst/>
          </a:prstGeom>
          <a:noFill/>
          <a:ln w="10160">
            <a:solidFill>
              <a:srgbClr val="1D314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566928" y="651967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80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GPT Caddy  ·  Stellar Science demo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109960" y="650138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0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900" dirty="0"/>
          </a:p>
        </p:txBody>
      </p:sp>
      <p:sp>
        <p:nvSpPr>
          <p:cNvPr id="11" name="Rounded Rectangle 10"/>
          <p:cNvSpPr/>
          <p:nvPr/>
        </p:nvSpPr>
        <p:spPr>
          <a:xfrm>
            <a:off x="8476488" y="1417320"/>
            <a:ext cx="2953512" cy="987552"/>
          </a:xfrm>
          <a:prstGeom prst="roundRect">
            <a:avLst/>
          </a:prstGeom>
          <a:solidFill>
            <a:srgbClr val="0D1A2D"/>
          </a:solidFill>
          <a:ln w="13970">
            <a:solidFill>
              <a:srgbClr val="4A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641080" y="1572768"/>
            <a:ext cx="438912" cy="256032"/>
          </a:xfrm>
          <a:prstGeom prst="roundRect">
            <a:avLst/>
          </a:prstGeom>
          <a:solidFill>
            <a:srgbClr val="132640"/>
          </a:solidFill>
          <a:ln w="6350">
            <a:solidFill>
              <a:srgbClr val="132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41080" y="1572768"/>
            <a:ext cx="438912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4AA3FF"/>
                </a:solidFill>
                <a:latin typeface="Aptos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41080" y="1856232"/>
            <a:ext cx="2624328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0" b="1" i="0">
                <a:solidFill>
                  <a:srgbClr val="F4F7FC"/>
                </a:solidFill>
                <a:latin typeface="Aptos Display"/>
              </a:rPr>
              <a:t>Did loss improve?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1080" y="2167128"/>
            <a:ext cx="2624328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0" b="0" i="0">
                <a:solidFill>
                  <a:srgbClr val="8FA3C4"/>
                </a:solidFill>
                <a:latin typeface="Aptos"/>
              </a:rPr>
              <a:t>curves + no-regression banner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76488" y="2596896"/>
            <a:ext cx="2953512" cy="1097280"/>
          </a:xfrm>
          <a:prstGeom prst="roundRect">
            <a:avLst/>
          </a:prstGeom>
          <a:solidFill>
            <a:srgbClr val="0D1A2D"/>
          </a:solidFill>
          <a:ln w="13970">
            <a:solidFill>
              <a:srgbClr val="38D3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641080" y="2752344"/>
            <a:ext cx="438912" cy="256032"/>
          </a:xfrm>
          <a:prstGeom prst="roundRect">
            <a:avLst/>
          </a:prstGeom>
          <a:solidFill>
            <a:srgbClr val="132640"/>
          </a:solidFill>
          <a:ln w="6350">
            <a:solidFill>
              <a:srgbClr val="132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41080" y="2752344"/>
            <a:ext cx="438912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38D39F"/>
                </a:solidFill>
                <a:latin typeface="Aptos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41080" y="3035808"/>
            <a:ext cx="2624328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80" b="1" i="0">
                <a:solidFill>
                  <a:srgbClr val="F4F7FC"/>
                </a:solidFill>
                <a:latin typeface="Aptos Display"/>
              </a:rPr>
              <a:t>Did validation
improve?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41080" y="3474720"/>
            <a:ext cx="2624328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0" b="0" i="0">
                <a:solidFill>
                  <a:srgbClr val="8FA3C4"/>
                </a:solidFill>
                <a:latin typeface="Aptos"/>
              </a:rPr>
              <a:t>BPB at equal progress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76488" y="3886200"/>
            <a:ext cx="2953512" cy="1097280"/>
          </a:xfrm>
          <a:prstGeom prst="roundRect">
            <a:avLst/>
          </a:prstGeom>
          <a:solidFill>
            <a:srgbClr val="0D1A2D"/>
          </a:solidFill>
          <a:ln w="13970">
            <a:solidFill>
              <a:srgbClr val="F4C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641080" y="4041648"/>
            <a:ext cx="438912" cy="256032"/>
          </a:xfrm>
          <a:prstGeom prst="roundRect">
            <a:avLst/>
          </a:prstGeom>
          <a:solidFill>
            <a:srgbClr val="132640"/>
          </a:solidFill>
          <a:ln w="6350">
            <a:solidFill>
              <a:srgbClr val="132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41080" y="4041648"/>
            <a:ext cx="438912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F4C65D"/>
                </a:solidFill>
                <a:latin typeface="Aptos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41080" y="4325112"/>
            <a:ext cx="2624328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80" b="1" i="0">
                <a:solidFill>
                  <a:srgbClr val="F4F7FC"/>
                </a:solidFill>
                <a:latin typeface="Aptos Display"/>
              </a:rPr>
              <a:t>Did model health
improve?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41080" y="4764024"/>
            <a:ext cx="2624328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0" b="0" i="0">
                <a:solidFill>
                  <a:srgbClr val="8FA3C4"/>
                </a:solidFill>
                <a:latin typeface="Aptos"/>
              </a:rPr>
              <a:t>verdict + headline metrics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8" y="5184648"/>
            <a:ext cx="10680192" cy="566928"/>
          </a:xfrm>
          <a:prstGeom prst="roundRect">
            <a:avLst/>
          </a:prstGeom>
          <a:solidFill>
            <a:srgbClr val="0D1A2D"/>
          </a:solidFill>
          <a:ln w="12700">
            <a:solidFill>
              <a:srgbClr val="38D3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05840" y="5285232"/>
            <a:ext cx="1016812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F4F7FC"/>
                </a:solidFill>
                <a:latin typeface="Aptos"/>
              </a:rPr>
              <a:t>Compare at equal step or equal progress.  Then decide what to change next.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23160" y="5907024"/>
            <a:ext cx="736092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6F84AA"/>
                </a:solidFill>
                <a:latin typeface="Aptos"/>
              </a:rPr>
              <a:t>Launch  →  Monitor  →  Diagnose  →  </a:t>
            </a:r>
            <a:r>
              <a:rPr sz="1019" b="1">
                <a:solidFill>
                  <a:srgbClr val="4AA3FF"/>
                </a:solidFill>
                <a:latin typeface="Aptos"/>
              </a:rPr>
              <a:t>Compare</a:t>
            </a:r>
            <a:r>
              <a:rPr sz="1019" b="0">
                <a:solidFill>
                  <a:srgbClr val="6F84AA"/>
                </a:solidFill>
                <a:latin typeface="Aptos"/>
              </a:rPr>
              <a:t>  →  Decide</a:t>
            </a:r>
            <a:r>
              <a:rPr sz="1019" b="1">
                <a:solidFill>
                  <a:srgbClr val="38D39F"/>
                </a:solidFill>
                <a:latin typeface="Aptos"/>
              </a:rPr>
              <a:t>  ↺</a:t>
            </a:r>
          </a:p>
        </p:txBody>
      </p:sp>
      <p:pic>
        <p:nvPicPr>
          <p:cNvPr id="29" name="Actual UI – run-vs-run compare" descr="Actual GPT Caddy Compare view showing a no-regression banner, overlaid training-loss curves aligned by progress, validation BPB points, and a model-health metrics table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1325880"/>
            <a:ext cx="7699248" cy="363931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38360" y="0"/>
            <a:ext cx="2450592" cy="2450592"/>
          </a:xfrm>
          <a:prstGeom prst="ellipse">
            <a:avLst/>
          </a:prstGeom>
          <a:solidFill>
            <a:srgbClr val="38D39F">
              <a:alpha val="8000"/>
            </a:srgbClr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230368"/>
            <a:ext cx="1691640" cy="1627632"/>
          </a:xfrm>
          <a:prstGeom prst="ellipse">
            <a:avLst/>
          </a:prstGeom>
          <a:solidFill>
            <a:srgbClr val="4FC3E6">
              <a:alpha val="5000"/>
            </a:srgbClr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66928" y="493776"/>
            <a:ext cx="73152" cy="310896"/>
          </a:xfrm>
          <a:prstGeom prst="roundRect">
            <a:avLst>
              <a:gd name="adj" fmla="val 50000"/>
            </a:avLst>
          </a:prstGeom>
          <a:solidFill>
            <a:srgbClr val="38D39F"/>
          </a:solidFill>
          <a:ln w="12700">
            <a:solidFill>
              <a:srgbClr val="38D3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9808" y="4846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38D39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49808" y="676656"/>
            <a:ext cx="10561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an unmet need to something use every day.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66928" y="6446520"/>
            <a:ext cx="11064240" cy="0"/>
          </a:xfrm>
          <a:prstGeom prst="line">
            <a:avLst/>
          </a:prstGeom>
          <a:noFill/>
          <a:ln w="10160">
            <a:solidFill>
              <a:srgbClr val="1D31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66928" y="651967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80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GPT Caddy  ·  Stellar Science demo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109960" y="650138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0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078992" y="1664208"/>
            <a:ext cx="10040112" cy="2816352"/>
          </a:xfrm>
          <a:prstGeom prst="roundRect">
            <a:avLst>
              <a:gd name="adj" fmla="val 2597"/>
            </a:avLst>
          </a:prstGeom>
          <a:solidFill>
            <a:srgbClr val="132640"/>
          </a:solidFill>
          <a:ln w="19050">
            <a:solidFill>
              <a:srgbClr val="38D39F"/>
            </a:solidFill>
            <a:prstDash val="solid"/>
          </a:ln>
          <a:effectLst>
            <a:outerShdw blurRad="1905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572768" y="2249424"/>
            <a:ext cx="9052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F4F7FC"/>
                </a:solidFill>
                <a:latin typeface="Aptos Display" pitchFamily="34" charset="0"/>
              </a:rPr>
              <a:t>GPT Golf is an optimization problem without a profiler. </a:t>
            </a:r>
          </a:p>
          <a:p>
            <a:pPr marL="0" indent="0" algn="ctr">
              <a:buNone/>
            </a:pPr>
            <a:r>
              <a:rPr lang="en-US" sz="2900" b="1" dirty="0">
                <a:solidFill>
                  <a:srgbClr val="F4F7FC"/>
                </a:solidFill>
                <a:latin typeface="Aptos Display" pitchFamily="34" charset="0"/>
              </a:rPr>
              <a:t>I built one. </a:t>
            </a:r>
            <a:endParaRPr lang="en-US" sz="2900" dirty="0"/>
          </a:p>
        </p:txBody>
      </p:sp>
      <p:sp>
        <p:nvSpPr>
          <p:cNvPr id="12" name="Shape 10"/>
          <p:cNvSpPr/>
          <p:nvPr/>
        </p:nvSpPr>
        <p:spPr>
          <a:xfrm>
            <a:off x="4251960" y="3703320"/>
            <a:ext cx="3657600" cy="0"/>
          </a:xfrm>
          <a:prstGeom prst="line">
            <a:avLst/>
          </a:prstGeom>
          <a:noFill/>
          <a:ln w="30480">
            <a:solidFill>
              <a:srgbClr val="38D3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057400" y="482803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AA3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need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200400" y="48006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943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703320" y="482803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FC3E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tool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120640" y="48006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943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650992" y="4828032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8D39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evidence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114032" y="48006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943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635240" y="4828032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4C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decision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1572768" y="5504688"/>
            <a:ext cx="9052560" cy="457200"/>
          </a:xfrm>
          <a:prstGeom prst="roundRect">
            <a:avLst>
              <a:gd name="adj" fmla="val 16000"/>
            </a:avLst>
          </a:prstGeom>
          <a:solidFill>
            <a:srgbClr val="103328"/>
          </a:solidFill>
          <a:ln w="13970">
            <a:solidFill>
              <a:srgbClr val="38D3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810512" y="5641848"/>
            <a:ext cx="85770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5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GPU stops itself. The run history and diagnosis remain.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4EEA257-BBD6-4880-B635-C5AB4F213E40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92cb79a6-263c-45c9-bea9-3ccc008f56c1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1793</Words>
  <Application>Microsoft Office PowerPoint</Application>
  <PresentationFormat>Widescreen</PresentationFormat>
  <Paragraphs>205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GPT Caddy — live demo</dc:title>
  <dc:subject>GPT Caddy live demo deck — revised for clarity and presentation quality</dc:subject>
  <dc:creator>OpenAI</dc:creator>
  <cp:lastModifiedBy>Stephen Herlihy</cp:lastModifiedBy>
  <cp:revision>3</cp:revision>
  <dcterms:created xsi:type="dcterms:W3CDTF">2026-06-23T02:48:07Z</dcterms:created>
  <dcterms:modified xsi:type="dcterms:W3CDTF">2026-06-23T06:46:27Z</dcterms:modified>
</cp:coreProperties>
</file>