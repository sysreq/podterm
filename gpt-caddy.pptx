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4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4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Stellar Science hiring panel — mixed C++ / Python / PhD / non-technical, some attendees on Teams. 18 min presentation + 12 min Q&amp;A.
Opening intent: establish the product benefit before architecture. The live pod is pre-warmed and off the critical path.
Earned impressions: turns a need into a deliverable service; owns quality; can solve a hard systems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0:00–2:00
OPENER: “Most of training a small GPT is guess-and-check. You tweak something, wait, stare at a loss curve, and still can’t answer the one question that matters: why is it doing what it’s doing. So I built the instrument I wanted. GPT Caddy rents a GPU by the minute, runs the training, gives me live X-ray vision into the run, and grades the model’s health off the training GPU — so I can see why and decide what to change next in minutes, not hours.”
ACTION: quietly kick a fresh live launch here as the ‘it’s really running’ tease. Keep it off the critical path; if it fails,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2:00–3:00
“That loop is the whole tool. Everything I show you is one lap around it.” Diagnose is highlighted because it is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3:00–4:20
“GPT Caddy is deliberately small — a control plane on my laptop. The heavy lifting runs on the pod, from a sibling repo, gpt-golf.”
Frame the architecture as cattle, not pets. The pod is disposable; durable state is local. Avoid saying “lose nothing” absolutely — the precise claim is that durable run history and returned artifacts survive pod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4:20–5:25
SENTENCEPIECE: “Tokenizing the corpus was the bottleneck, so I forked SentencePiece to use multiple cores with smart buffering — divide-and-conquer over the corpus. Ten billion tokens went from over an hour to under ten minutes, at roughly half the memory.”
Q&amp;A bait: chunk sizing to avoid overflow and removal of cross-thread contention.
CUDA: Torch DT_NEEDED entries force the loader to map FFT / sparse libraries at import even though this model never calls them. Deleting them causes ImportError; empty stubs fail the version check. A 16 KB no-op stub exporting exactly the referenced, versioned symbols satisfies the loader. Symbols are generated from the installed Torch binary, so dependency updates self-correct. NCCL is stubbed for single-GPU runs; bootstrap restores the real wheel for torchrun and fails loudly if it cannot.
RIGOR BEAT: none of this is guesswork. Stubs are derived from Torch; restore is fail-loud. Prefer a broken build to silent numerical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5:25–6:15
Keep this crisp. pod_eventd.py serves JSONL events, raw logs, snapshots, and a small snapshot acknowledgement. The daemon is stdlib-only so it starts before the environment is installed.
Q&amp;A details: service-singleton DAG (SSEHub ← EventPipeline ← PodManager), ordered shutdown, idempotent finalize, two-confirm “pod gone,” backpressure, redaction, and a boot panel that parses machine logs through a short-lived console token.
Transition: architecture is done; get to the live app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6:15–11:30
SWITCH TO THE APP. Use the pre-warmed pod, already training.
Lead with the race bar — the feature to be proudest of. It is client-side derived from EMA step time, ETA, throughput, and projected finish loss. Then show KPI cards and cost ticking. Say: “All of this is updating right now.”
Avoid asking a mixed audience to parse “SSE” on screen; explain the live stream only if asked.
BACKUP: if the pod misbehaves, use the static live-run backup slide or a completed historical run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11:30–15:30
KEYSTONE: “The diagnostics check their own arithmetic. The off-pod forward pass recomputes each layer from its parts, re-derives the loss independently, and reconciles bits-per-byte against the on-pod evaluation — across different hardware. Anything it can’t verify is flagged.”
Show Model Health verdict and the deep dive first. Translate technical metrics into plain-English questions: capacity used? signal flow? gradients healthy? attention focused?
Credibility line: most tools report a result; GPT Caddy cross-checks it. Avoid the absolute claim “proves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15:30–17:30</a:t>
            </a:r>
          </a:p>
          <a:p>
            <a:endParaRPr/>
          </a:p>
          <a:p>
            <a:r>
              <a:t>History → select two runs → Compare. Ask the three questions on the slide, then show overlays, regression banners, and the model-health diff.</a:t>
            </a:r>
          </a:p>
          <a:p>
            <a:endParaRPr/>
          </a:p>
          <a:p>
            <a:r>
              <a:t>Key line: “Compare at equal step or equal progress.”</a:t>
            </a:r>
          </a:p>
          <a:p>
            <a:endParaRPr/>
          </a:p>
          <a:p>
            <a:r>
              <a:t>Close the loop: this is what the system is for — decide what to change next.</a:t>
            </a:r>
          </a:p>
          <a:p>
            <a:endParaRPr/>
          </a:p>
          <a:p>
            <a:r>
              <a:t>ON-SLIDE: this is the real run-vs-run Compare screen. Read it top-to-bottom: no-regression banner, loss curves, validation BPB, then model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17:30–18:00
LANDING: “This started because I had a need I couldn’t meet. I found the need, built the tool, and made it trustworthy enough to use every day.”
Do not promise that the top-of-show pod has already stopped. Verify in the app first; show the actual bill only if the run is complete. Otherwise use the durable-history line on the slide and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TITLE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1572768"/>
            <a:ext cx="137160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6852" y="2596896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utility to make GPT Golf easier.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	See inside the run.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		Decide what to change next.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4087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built it for myself — every GPT Golf run goes through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2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52166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20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52166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8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2424" y="5216652"/>
            <a:ext cx="96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94576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62672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36408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04504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78240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46336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20072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88168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32136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Presenter"/>
          <p:cNvSpPr/>
          <p:nvPr/>
        </p:nvSpPr>
        <p:spPr>
          <a:xfrm>
            <a:off x="768096" y="6080760"/>
            <a:ext cx="5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Stephen Herlihy   ·   June 2026</a:t>
            </a:r>
            <a:endParaRPr lang="en-US" sz="1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A2D313-44E6-4662-A6A8-DE375CF905CA}"/>
              </a:ext>
            </a:extLst>
          </p:cNvPr>
          <p:cNvSpPr txBox="1"/>
          <p:nvPr/>
        </p:nvSpPr>
        <p:spPr>
          <a:xfrm>
            <a:off x="762000" y="482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AA3FF"/>
                </a:solidFill>
                <a:latin typeface="Aptos"/>
              </a:rPr>
              <a:t>FORMAT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BE8B93-ECAB-484D-8F2D-4B2F9CE1ECDF}"/>
              </a:ext>
            </a:extLst>
          </p:cNvPr>
          <p:cNvSpPr txBox="1"/>
          <p:nvPr/>
        </p:nvSpPr>
        <p:spPr>
          <a:xfrm>
            <a:off x="6464300" y="48260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AA3FF"/>
                </a:solidFill>
                <a:latin typeface="Aptos"/>
              </a:rPr>
              <a:t>EVERY RUN, END TO END</a:t>
            </a:r>
          </a:p>
        </p:txBody>
      </p:sp>
    </p:spTree>
    <p:extLst>
      <p:ext uri="{BB962C8B-B14F-4D97-AF65-F5344CB8AC3E}">
        <p14:creationId xmlns:p14="http://schemas.microsoft.com/office/powerpoint/2010/main" val="173949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Naive GPT Golf is guess-and-check.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7894" y="2192933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Tweak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95874" y="2232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40428" y="2192933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85141" y="223675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66714" y="2202077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loss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05773" y="223954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71587" y="2192933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guess again?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475537" y="48057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 not why.</a:t>
            </a:r>
            <a:endParaRPr lang="en-US" sz="28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545796-1E86-C0F2-57B7-AB970E018A05}"/>
              </a:ext>
            </a:extLst>
          </p:cNvPr>
          <p:cNvSpPr/>
          <p:nvPr/>
        </p:nvSpPr>
        <p:spPr>
          <a:xfrm>
            <a:off x="2691354" y="4202491"/>
            <a:ext cx="5209033" cy="15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2EADBC-BBC8-8509-122B-77261F4517B9}"/>
              </a:ext>
            </a:extLst>
          </p:cNvPr>
          <p:cNvSpPr txBox="1"/>
          <p:nvPr/>
        </p:nvSpPr>
        <p:spPr>
          <a:xfrm>
            <a:off x="2691355" y="4202491"/>
            <a:ext cx="52090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step:1000/20000 train_loss:3.0888 train_time:199487ms step_avg:199.48ms</a:t>
            </a:r>
          </a:p>
          <a:p>
            <a:r>
              <a:rPr lang="en-US" sz="1200" dirty="0"/>
              <a:t>step:1250/20000 train_loss:3.0824 train_time:249358ms step_avg:199.49ms</a:t>
            </a:r>
          </a:p>
          <a:p>
            <a:r>
              <a:rPr lang="en-US" sz="1200" dirty="0"/>
              <a:t>step:1500/20000 train_loss:3.0743 train_time:299232ms step_avg:199.49ms</a:t>
            </a:r>
          </a:p>
          <a:p>
            <a:r>
              <a:rPr lang="en-US" sz="1200" dirty="0"/>
              <a:t>step:1750/20000 train_loss:3.0707 train_time:349106ms step_avg:199.50ms</a:t>
            </a:r>
          </a:p>
          <a:p>
            <a:r>
              <a:rPr lang="en-US" sz="1200" dirty="0"/>
              <a:t>step:2000/20000 train_loss:3.0401 train_time:398978ms step_avg:199.49ms</a:t>
            </a:r>
          </a:p>
          <a:p>
            <a:r>
              <a:rPr lang="en-US" sz="1200" dirty="0"/>
              <a:t>step:2250/20000 train_loss:3.0157 train_time:448839ms step_avg:199.45ms</a:t>
            </a:r>
          </a:p>
          <a:p>
            <a:r>
              <a:rPr lang="en-US" sz="1200" dirty="0"/>
              <a:t>step:2500/20000 train_loss:2.9648 train_time:498704ms step_avg:199.46ms</a:t>
            </a:r>
          </a:p>
          <a:p>
            <a:r>
              <a:rPr lang="en-US" sz="1200" dirty="0"/>
              <a:t>step:2750/20000 train_loss:2.8870 train_time:548568ms step_avg:199.46ms</a:t>
            </a:r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09BA6AC1-47BF-D7F9-46D0-72DF20D0C63D}"/>
              </a:ext>
            </a:extLst>
          </p:cNvPr>
          <p:cNvSpPr/>
          <p:nvPr/>
        </p:nvSpPr>
        <p:spPr>
          <a:xfrm>
            <a:off x="2667613" y="3626915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 tell you what happened.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</a:rPr>
              <a:t>Shrink the loop. Iterate faster.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+ start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063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123A34"/>
          </a:solidFill>
          <a:ln w="2159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7667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59752" y="2761488"/>
            <a:ext cx="146304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vs run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5431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2804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9264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6579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9264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change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746504" y="4290793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pass through the loop should reduce uncertainty.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GPU. Durable control plane.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0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4712" y="186080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RUNPOD GPU POD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compute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051560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code  ·  pull data</a:t>
            </a:r>
            <a:endParaRPr lang="en-US" sz="1900" dirty="0"/>
          </a:p>
          <a:p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·  snapshot  · terminate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Cloud. Stateless.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64592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18608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· LAPTOP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Durable control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88352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 ·  monitor  ·  diagnose</a:t>
            </a:r>
            <a:endParaRPr lang="en-US" sz="1900" dirty="0"/>
          </a:p>
          <a:p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results · compare runs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88352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Local. Persistent.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5294376" y="2404872"/>
            <a:ext cx="1545336" cy="18289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/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94376" y="3858767"/>
            <a:ext cx="1545336" cy="18289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 · snapshots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10680192" cy="658368"/>
          </a:xfrm>
          <a:prstGeom prst="roundRect">
            <a:avLst>
              <a:gd name="adj" fmla="val 1111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458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pod can disappear. The durable run history survives.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175504" cy="3456432"/>
          </a:xfrm>
          <a:prstGeom prst="roundRect">
            <a:avLst>
              <a:gd name="adj" fmla="val 2116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6×+ faster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014216" y="1600200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87368" y="163677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SENTENCEPIECE FORK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9848" y="300372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&gt;50GB Raw Text -&gt; ~10B tokens -&gt; 200MB Shards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" y="3371409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 1 hour  →  8-10 minutes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861598"/>
            <a:ext cx="2112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~50% less memory 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buffering + divide-and-conquer the corpus.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5184648" cy="3456432"/>
          </a:xfrm>
          <a:prstGeom prst="roundRect">
            <a:avLst>
              <a:gd name="adj" fmla="val 2116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11"/>
          <p:cNvSpPr/>
          <p:nvPr/>
        </p:nvSpPr>
        <p:spPr>
          <a:xfrm>
            <a:off x="9648120" y="1600200"/>
            <a:ext cx="165506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66992" y="16504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LOADER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90195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A3FF"/>
                </a:solidFill>
                <a:latin typeface="Aptos Display" pitchFamily="34" charset="0"/>
              </a:rPr>
              <a:t>&lt;2GB Container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65392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starts.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65392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33867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 the size of “full” distro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65392" y="4105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installed Torch binary.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missing deps for special cases.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5285232"/>
            <a:ext cx="10680192" cy="621792"/>
          </a:xfrm>
          <a:prstGeom prst="roundRect">
            <a:avLst>
              <a:gd name="adj" fmla="val 11765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477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Multi-tier build. Bake CUDA/Torch once. Add new deps in seconds.</a:t>
            </a:r>
            <a:endParaRPr lang="en-US" sz="19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F8311780-8B0D-5BB7-9949-584DA8CC83A8}"/>
              </a:ext>
            </a:extLst>
          </p:cNvPr>
          <p:cNvSpPr/>
          <p:nvPr/>
        </p:nvSpPr>
        <p:spPr>
          <a:xfrm>
            <a:off x="6565392" y="299430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</a:rPr>
              <a:t>Cut the stuff that isn’t used</a:t>
            </a:r>
            <a:endParaRPr lang="en-US" sz="19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F86B30AD-1D97-A0C4-6C08-6F5565A4F6FF}"/>
              </a:ext>
            </a:extLst>
          </p:cNvPr>
          <p:cNvSpPr/>
          <p:nvPr/>
        </p:nvSpPr>
        <p:spPr>
          <a:xfrm>
            <a:off x="784120" y="650895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</a:rPr>
              <a:t>Time to first token matters.</a:t>
            </a:r>
            <a:endParaRPr lang="en-US" sz="2800" dirty="0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D178DA0C-A7E5-26F5-930D-87427EDA79A3}"/>
              </a:ext>
            </a:extLst>
          </p:cNvPr>
          <p:cNvSpPr/>
          <p:nvPr/>
        </p:nvSpPr>
        <p:spPr>
          <a:xfrm>
            <a:off x="6565392" y="376401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KB stubs satisfy the loader</a:t>
            </a:r>
            <a:endParaRPr lang="en-US" sz="19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D31FE4CE-03D3-57D8-8CE6-2F4E338BA8A1}"/>
              </a:ext>
            </a:extLst>
          </p:cNvPr>
          <p:cNvSpPr/>
          <p:nvPr/>
        </p:nvSpPr>
        <p:spPr>
          <a:xfrm>
            <a:off x="3391949" y="3870742"/>
            <a:ext cx="2112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</a:rPr>
              <a:t>~600% throughput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event path keeps the live view honest.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7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daemon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5264" y="2734056"/>
            <a:ext cx="210312" cy="0"/>
          </a:xfrm>
          <a:prstGeom prst="line">
            <a:avLst/>
          </a:prstGeom>
          <a:noFill/>
          <a:ln w="22860">
            <a:solidFill>
              <a:srgbClr val="4FC3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7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12464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JSONL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67328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per-run token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16752" y="2734056"/>
            <a:ext cx="210312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7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· fan-out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78240" y="2734056"/>
            <a:ext cx="210312" cy="0"/>
          </a:xfrm>
          <a:prstGeom prst="line">
            <a:avLst/>
          </a:prstGeom>
          <a:noFill/>
          <a:ln w="22860">
            <a:solidFill>
              <a:srgbClr val="F4C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34272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7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08592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35440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· cards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9264" y="4507992"/>
            <a:ext cx="128016" cy="12801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8720" y="44183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 before dependencies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8872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stdlib-only daemon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31596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35424" y="4507992"/>
            <a:ext cx="128016" cy="12801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4183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event is durable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to SQLite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88212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4507992"/>
            <a:ext cx="128016" cy="128016"/>
          </a:xfrm>
          <a:prstGeom prst="ellipse">
            <a:avLst/>
          </a:prstGeom>
          <a:solidFill>
            <a:srgbClr val="F4C65D"/>
          </a:solidFill>
          <a:ln w="12700">
            <a:solidFill>
              <a:srgbClr val="F4C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9403" y="4444813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stream, three uses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history · diagnostics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2416" y="55321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→ authenticate → laptop → browser / persistence / diagnostics / monitoring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three things move.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581912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86484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Race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Ahead or behind at the same budget?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61488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30652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Cost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21024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Meter ticks; the pod stops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05656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74820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08576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Model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65192"/>
            <a:ext cx="2441448" cy="15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dirty="0">
                <a:solidFill>
                  <a:srgbClr val="8FA3C4"/>
                </a:solidFill>
                <a:latin typeface="Aptos"/>
              </a:rPr>
              <a:t>Metrics live; </a:t>
            </a:r>
            <a:r>
              <a:rPr lang="en-US" sz="1030" dirty="0">
                <a:solidFill>
                  <a:srgbClr val="8FA3C4"/>
                </a:solidFill>
                <a:latin typeface="Aptos"/>
              </a:rPr>
              <a:t>probe</a:t>
            </a:r>
            <a:r>
              <a:rPr sz="1030" b="0" i="0" dirty="0">
                <a:solidFill>
                  <a:srgbClr val="8FA3C4"/>
                </a:solidFill>
                <a:latin typeface="Aptos"/>
              </a:rPr>
              <a:t> runs off-GPU.</a:t>
            </a:r>
          </a:p>
        </p:txBody>
      </p:sp>
      <p:pic>
        <p:nvPicPr>
          <p:cNvPr id="25" name="Picture 24" descr="live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371600"/>
            <a:ext cx="7735824" cy="43342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5829221"/>
            <a:ext cx="7735824" cy="1738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30" b="1" dirty="0">
                <a:solidFill>
                  <a:srgbClr val="38D39F"/>
                </a:solidFill>
                <a:latin typeface="Aptos"/>
              </a:rPr>
              <a:t>Keeps you informed without costing your focus.</a:t>
            </a:r>
            <a:endParaRPr sz="1130" b="1" i="0" dirty="0">
              <a:solidFill>
                <a:srgbClr val="38D39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diagnostics check their own arithmetic.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475773"/>
            <a:ext cx="1600200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38D39F"/>
                </a:solidFill>
                <a:latin typeface="Aptos Display"/>
              </a:rPr>
              <a:t>RE</a:t>
            </a:r>
            <a:r>
              <a:rPr lang="en-US" sz="1320" b="1" i="0" dirty="0">
                <a:solidFill>
                  <a:srgbClr val="38D39F"/>
                </a:solidFill>
                <a:latin typeface="Aptos Display"/>
              </a:rPr>
              <a:t>-</a:t>
            </a:r>
            <a:r>
              <a:rPr sz="1320" b="1" i="0" dirty="0">
                <a:solidFill>
                  <a:srgbClr val="38D39F"/>
                </a:solidFill>
                <a:latin typeface="Aptos Display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layer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RE-DERIVE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loss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BPB vs on-pod eval</a:t>
            </a:r>
          </a:p>
        </p:txBody>
      </p:sp>
      <p:pic>
        <p:nvPicPr>
          <p:cNvPr id="25" name="Picture 24" descr="diagnostics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29968"/>
            <a:ext cx="10844784" cy="35478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650992"/>
            <a:ext cx="10680192" cy="420624"/>
          </a:xfrm>
          <a:prstGeom prst="roundRect">
            <a:avLst/>
          </a:prstGeom>
          <a:solidFill>
            <a:srgbClr val="0B2B28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771314"/>
            <a:ext cx="10204704" cy="1908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 dirty="0">
                <a:solidFill>
                  <a:srgbClr val="F4F7FC"/>
                </a:solidFill>
                <a:latin typeface="Aptos"/>
              </a:rPr>
              <a:t>GPU trains.  Laptop audits.  </a:t>
            </a:r>
            <a:r>
              <a:rPr lang="en-US" sz="1240" b="1" i="0" dirty="0">
                <a:solidFill>
                  <a:srgbClr val="F4F7FC"/>
                </a:solidFill>
                <a:latin typeface="Aptos"/>
              </a:rPr>
              <a:t>Monitor progress without slowing down</a:t>
            </a:r>
            <a:r>
              <a:rPr sz="1240" b="1" i="0" dirty="0">
                <a:solidFill>
                  <a:srgbClr val="F4F7F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Did my change help?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476488" y="1417320"/>
            <a:ext cx="2953512" cy="98755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7276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57276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56232"/>
            <a:ext cx="26243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4F7FC"/>
                </a:solidFill>
                <a:latin typeface="Aptos Display"/>
              </a:rPr>
              <a:t>Did loss improve?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67128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curves + no-regression banner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488" y="2596896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752344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75234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35808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validation
improve?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BPB at equal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86200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41080" y="40416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04164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25112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model health
improve?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764024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verdict + headline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84648"/>
            <a:ext cx="10680192" cy="566928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2"/>
            <a:ext cx="10168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4F7FC"/>
                </a:solidFill>
                <a:latin typeface="Aptos"/>
              </a:rPr>
              <a:t>Compare at equal step or equal progress.  Then decide what to change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907024"/>
            <a:ext cx="7360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84AA"/>
                </a:solidFill>
                <a:latin typeface="Aptos"/>
              </a:rPr>
              <a:t>Launch  →  Monitor  →  Diagnose  →  </a:t>
            </a:r>
            <a:r>
              <a:rPr sz="1019" b="1">
                <a:solidFill>
                  <a:srgbClr val="4AA3FF"/>
                </a:solidFill>
                <a:latin typeface="Aptos"/>
              </a:rPr>
              <a:t>Compare</a:t>
            </a:r>
            <a:r>
              <a:rPr sz="1019" b="0">
                <a:solidFill>
                  <a:srgbClr val="6F84AA"/>
                </a:solidFill>
                <a:latin typeface="Aptos"/>
              </a:rPr>
              <a:t>  →  Decide</a:t>
            </a:r>
            <a:r>
              <a:rPr sz="1019" b="1">
                <a:solidFill>
                  <a:srgbClr val="38D39F"/>
                </a:solidFill>
                <a:latin typeface="Aptos"/>
              </a:rPr>
              <a:t>  ↺</a:t>
            </a:r>
          </a:p>
        </p:txBody>
      </p:sp>
      <p:pic>
        <p:nvPicPr>
          <p:cNvPr id="29" name="Actual UI – run-vs-run compare" descr="Actual GPT Caddy Compare view showing a no-regression banner, overlaid training-loss curves aligned by progress, validation BPB points, and a model-health metrics tabl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513" y="1326453"/>
            <a:ext cx="7699246" cy="36381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guess-and-check to informed decisions.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664208"/>
            <a:ext cx="10040112" cy="2816352"/>
          </a:xfrm>
          <a:prstGeom prst="roundRect">
            <a:avLst>
              <a:gd name="adj" fmla="val 2597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GPT Golf is an optimization problem </a:t>
            </a:r>
            <a:r>
              <a:rPr lang="en-US" sz="2900" b="1" dirty="0">
                <a:solidFill>
                  <a:schemeClr val="bg1"/>
                </a:solidFill>
                <a:latin typeface="Aptos Display" pitchFamily="34" charset="0"/>
              </a:rPr>
              <a:t>without</a:t>
            </a: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 a </a:t>
            </a:r>
            <a:r>
              <a:rPr lang="en-US" sz="2900" b="1" i="1" dirty="0">
                <a:solidFill>
                  <a:srgbClr val="FFC000"/>
                </a:solidFill>
                <a:latin typeface="Aptos Display" pitchFamily="34" charset="0"/>
              </a:rPr>
              <a:t>profiler</a:t>
            </a: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.</a:t>
            </a:r>
          </a:p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Then I </a:t>
            </a:r>
            <a:r>
              <a:rPr lang="en-US" sz="2800" b="1" dirty="0">
                <a:solidFill>
                  <a:schemeClr val="accent6"/>
                </a:solidFill>
                <a:latin typeface="Aptos Display" pitchFamily="34" charset="0"/>
              </a:rPr>
              <a:t>built</a:t>
            </a: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 one.</a:t>
            </a:r>
          </a:p>
        </p:txBody>
      </p:sp>
      <p:sp>
        <p:nvSpPr>
          <p:cNvPr id="12" name="Shape 10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304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4828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72768" y="5504688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5641848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is temporary but the memories last forever.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EEA257-BBD6-4880-B635-C5AB4F213E4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2cb79a6-263c-45c9-bea9-3ccc008f56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1793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 Caddy — live demo</dc:title>
  <dc:subject>GPT Caddy live demo deck — revised for clarity and presentation quality</dc:subject>
  <dc:creator>OpenAI</dc:creator>
  <cp:lastModifiedBy>Stephen Herlihy</cp:lastModifiedBy>
  <cp:revision>4</cp:revision>
  <dcterms:created xsi:type="dcterms:W3CDTF">2026-06-23T02:48:07Z</dcterms:created>
  <dcterms:modified xsi:type="dcterms:W3CDTF">2026-06-23T18:11:20Z</dcterms:modified>
</cp:coreProperties>
</file>