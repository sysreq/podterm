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4610"/>
  </p:normalViewPr>
  <p:slideViewPr>
    <p:cSldViewPr snapToGrid="0" snapToObjects="1">
      <p:cViewPr>
        <p:scale>
          <a:sx n="102" d="100"/>
          <a:sy n="102" d="100"/>
        </p:scale>
        <p:origin x="144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74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TARGET: Stellar Science hiring panel — mixed C++ / Python / PhD / non-technical, some attendees on Teams. 18 min presentation + 12 min Q&amp;A.
Opening intent: establish the product benefit before architecture. The live pod is pre-warmed and off the critical path.
Earned impressions: turns a need into a deliverable service; owns quality; can solve a hard systems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0:00–2:00
OPENER: “Most of training a small GPT is guess-and-check. You tweak something, wait, stare at a loss curve, and still can’t answer the one question that matters: why is it doing what it’s doing. So I built the instrument I wanted. PodTerm rents a GPU by the minute, runs the training, gives me live X-ray vision into the run, and grades the model’s health off the training GPU — so I can see why and decide what to change next in minutes, not hours.”
ACTION: quietly kick a fresh live launch here as the ‘it’s really running’ tease. Keep it off the critical path; if it fails, nobody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2:00–3:00
“That loop is the product. Everything I show you is one lap around it.” Diagnose is highlighted because it is the part most tools skip and the payoff of the origin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3:00–4:20
“PodTerm is deliberately small — a control plane on my laptop. The heavy lifting runs on the pod, from a sibling repo, gpt-golf.”
Frame the architecture as cattle, not pets. The pod is disposable; durable state is local. Avoid saying “lose nothing” absolutely — the precise claim is that durable run history and returned artifacts survive pod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4:20–5:25
SENTENCEPIECE: “Tokenizing the corpus was the bottleneck, so I forked SentencePiece to use multiple cores with smart buffering — divide-and-conquer over the corpus. Ten billion tokens went from over an hour to under ten minutes, at roughly half the memory.”
Q&amp;A bait: chunk sizing to avoid overflow and removal of cross-thread contention.
CUDA: Torch DT_NEEDED entries force the loader to map FFT / sparse libraries at import even though this model never calls them. Deleting them causes ImportError; empty stubs fail the version check. A 16 KB no-op stub exporting exactly the referenced, versioned symbols satisfies the loader. Symbols are generated from the installed Torch binary, so dependency updates self-correct. NCCL is stubbed for single-GPU runs; bootstrap restores the real wheel for torchrun and fails loudly if it cannot.
RIGOR BEAT: none of this is guesswork. Stubs are derived from Torch; restore is fail-loud. Prefer a broken build to silent numerical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5:25–6:15
Keep this crisp. pod_eventd.py serves JSONL events, raw logs, snapshots, and a small snapshot acknowledgement. The daemon is stdlib-only so it starts before the environment is installed.
Q&amp;A details: service-singleton DAG (SSEHub ← EventPipeline ← PodManager), ordered shutdown, idempotent finalize, two-confirm “pod gone,” backpressure, redaction, and a boot panel that parses machine logs through a short-lived console token.
Transition: architecture is done; get to the live app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6:15–11:30
SWITCH TO THE APP. Use the pre-warmed pod, already training.
Lead with the race bar — the feature to be proudest of. It is client-side derived from EMA step time, ETA, throughput, and projected finish loss. Then show KPI cards and cost ticking. Say: “All of this is updating right now.”
Avoid asking a mixed audience to parse “SSE” on screen; explain the live stream only if asked.
BACKUP: if the pod misbehaves, use the static live-run backup slide or a completed historical run from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11:30–15:30
KEYSTONE: “The diagnostics check their own arithmetic. The off-pod forward pass recomputes each layer from its parts, re-derives the loss independently, and reconciles bits-per-byte against the on-pod evaluation — across different hardware. Anything it can’t verify is flagged.”
Show Model Health verdict and the deep dive first. Translate technical metrics into plain-English questions: capacity used? signal flow? gradients healthy? attention focused?
Credibility line: most tools report a result; PodTerm cross-checks it. Avoid the absolute claim “proves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15:30–17:30</a:t>
            </a:r>
          </a:p>
          <a:p>
            <a:endParaRPr/>
          </a:p>
          <a:p>
            <a:r>
              <a:t>History → select two runs → Compare. Ask the three questions on the slide, then show overlays, regression banners, and the model-health diff.</a:t>
            </a:r>
          </a:p>
          <a:p>
            <a:endParaRPr/>
          </a:p>
          <a:p>
            <a:r>
              <a:t>Key line: “Compare at equal step or equal progress.”</a:t>
            </a:r>
          </a:p>
          <a:p>
            <a:endParaRPr/>
          </a:p>
          <a:p>
            <a:r>
              <a:t>Close the loop: this is what the system is for — decide what to change next.</a:t>
            </a:r>
          </a:p>
          <a:p>
            <a:endParaRPr/>
          </a:p>
          <a:p>
            <a:r>
              <a:t>ON-SLIDE: this is the real run-vs-run Compare screen. Read it top-to-bottom: no-regression banner, loss curves, validation BPB, then model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17:30–18:00
LANDING: “This started because I had a need I couldn’t meet. I found the need, built the system, and made it trustworthy enough to use every day.”
Do not promise that the top-of-show pod has already stopped. Verify in the app first; show the actual bill only if the run is complete. Otherwise use the durable-history line on the slide and move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slides only. The audience-segmentation map and internal Q&amp;A coaching have been removed from projected slides.
Presenter-only Q&amp;A map:
• C++ / systems — SentencePiece threading; symbol stubs; loader behavior.
• Python / platform — event pipeline; lifecycle; ordered shutdown; SQLite.
• Physics / PhD — self-verifying diagnostics; BPB reconciliation; controlled comparisons.
• CEO / non-technical — need-first story; cost; faster decisions; visible ownership.
Know cold: chunk sizing vs overflow, contention removal, DT_NEEDED and version nodes, fail-loud NCCL restore, service DAG, idempotent finalize, two-confirm pod-gone, metrics batching, SSE backpressure, redaction, runtime anatomy probe, additive schema, per-pod serialization.
Multi-GPU is not demoed; describe NCCL restore and torchrun, and state that it is not yet stress-tested.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if the live pod is unavailable. This is a designed static fallback, not a literal product screenshot, because the source deck did not include application captures. Replace with a real captured screen before the final interview if one is available.
Narrate the same three live beats: race, cost, model-health state. Historical completed runs remain fully replayable from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if the live diagnostics screen is unavailable. This is a designed static fallback rather than a literal product screenshot. Replace with a real captured diagnostic verdict when available.
The speaking sequence is unchanged: recompute, re-derive, cross-check; then explain that anything unverified is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if the live comparison screen is unavailable. This is a designed static fallback rather than a literal product screenshot. Replace with a real captured comparison view when available.
Keep the narration in plain English: did loss improve, did health improve, what changed internally?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the panel probes production readiness.
Testing detail: Python pytest covers health verdicts, compare diffs, schema, a golden end-to-end diagnostics test, database / pipeline / poller / routes, and secret redaction. Frontend node --test covers derived metrics and diagnostics logic. CI runs Python, frontend, and image checks on every push.
Next hardening: static type checker, coverage floor, failure-injection tests around thread / SQLite / subprocess seams, and dependency / vulnerability scanning.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TERM_MAST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TERM_TITLE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" y="1572768"/>
            <a:ext cx="1371600" cy="0"/>
          </a:xfrm>
          <a:prstGeom prst="line">
            <a:avLst/>
          </a:prstGeom>
          <a:noFill/>
          <a:ln w="381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" y="17830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PodTerm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8096" y="2596896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 small GPTs on rented GPUs.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 inside the run. Decide what to change next.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8096" y="40873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durable laptop control plane for ephemeral GPU training.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8096" y="5166360"/>
            <a:ext cx="114300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22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521665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5166360"/>
            <a:ext cx="1115568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20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0552" y="5216652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RUN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5166360"/>
            <a:ext cx="157276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8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92424" y="5216652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~18 MIN + Q&amp;A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64808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94576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62672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36408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04504" y="5093208"/>
            <a:ext cx="173736" cy="173736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48472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78240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46336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90304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720072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488168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232136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59952" y="608076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91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Driven against a real run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Small-GPT training is still guess-and-check.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874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Tweak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20240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3172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wait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75888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loss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87568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44768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guess again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183880" y="1572768"/>
            <a:ext cx="3246120" cy="2304288"/>
          </a:xfrm>
          <a:prstGeom prst="roundRect">
            <a:avLst>
              <a:gd name="adj" fmla="val 3175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39912" y="1810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LOSS CURVE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58200" y="3127248"/>
            <a:ext cx="2487168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58200" y="2212848"/>
            <a:ext cx="0" cy="91440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58200" y="2441448"/>
            <a:ext cx="2487168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58200" y="2670048"/>
            <a:ext cx="2487168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58200" y="2898648"/>
            <a:ext cx="2487168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458200" y="2962656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756660" y="2871216"/>
            <a:ext cx="298460" cy="36576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55120" y="2907792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353580" y="2743200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652041" y="2651760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950501" y="2551176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248961" y="2487168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547421" y="2423160"/>
            <a:ext cx="397947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58200" y="3255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tells me what happened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81160" y="40782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 not why.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749808" y="4160520"/>
            <a:ext cx="6903720" cy="1170432"/>
          </a:xfrm>
          <a:prstGeom prst="roundRect">
            <a:avLst>
              <a:gd name="adj" fmla="val 6250"/>
            </a:avLst>
          </a:prstGeom>
          <a:solidFill>
            <a:srgbClr val="132640"/>
          </a:solidFill>
          <a:ln w="1651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1560" y="443484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 I built the instrument I wanted.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051560" y="486460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why. Decide in minutes.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loop is the product.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 + start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7063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4436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0896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8211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0896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state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6519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892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123A34"/>
          </a:solidFill>
          <a:ln w="2159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0352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7667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health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59752" y="2761488"/>
            <a:ext cx="146304" cy="0"/>
          </a:xfrm>
          <a:prstGeom prst="line">
            <a:avLst/>
          </a:prstGeom>
          <a:noFill/>
          <a:ln w="2286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3348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08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7123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9808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vs run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5431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2804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9264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6579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9264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69264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change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0945368" y="3703320"/>
            <a:ext cx="0" cy="566928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945368" y="4270248"/>
            <a:ext cx="0" cy="0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24128" y="4270248"/>
            <a:ext cx="0" cy="0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828800" y="444398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pass through the loop should reduce uncertainty.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828800" y="49560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for the how. The live app for the proof.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85632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pod is training right now.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GPU. Durable control plane.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1810512"/>
            <a:ext cx="141732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20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4712" y="186080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RUNPOD GPU POD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304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compute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051560" y="294436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repo  ·  pull dataset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 ·  snapshot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itself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51560" y="4407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Stateless by design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86600" y="155448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88352" y="1810512"/>
            <a:ext cx="1645920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61504" y="1860804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· LAPTOP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88352" y="2304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Durable control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388352" y="294436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 ·  monitor  ·  diagnose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SQLite run history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+ decisions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388352" y="4407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by design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94376" y="2487168"/>
            <a:ext cx="1545336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22392" y="2130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/ control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39712" y="3776472"/>
            <a:ext cx="0" cy="0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84648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logs · snapshots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" y="5257800"/>
            <a:ext cx="10680192" cy="658368"/>
          </a:xfrm>
          <a:prstGeom prst="roundRect">
            <a:avLst>
              <a:gd name="adj" fmla="val 11111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1560" y="54589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pod can disappear. The durable run history survives.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build gets faster by removing the wrong work.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5175504" cy="3456432"/>
          </a:xfrm>
          <a:prstGeom prst="roundRect">
            <a:avLst>
              <a:gd name="adj" fmla="val 2116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1792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6×+ faster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69848" y="2304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tokenization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3794760" y="1883664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6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67912" y="193395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SENTENCEPIECE FORK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69848" y="2852928"/>
            <a:ext cx="452628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69848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10B tokens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40280" y="307238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&gt;1 hour  →  &lt;10 minutes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9848" y="37673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~50% less memory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69848" y="42062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buffering + divide-and-conquer over the corpus.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45352" y="1554480"/>
            <a:ext cx="5184648" cy="3456432"/>
          </a:xfrm>
          <a:prstGeom prst="roundRect">
            <a:avLst>
              <a:gd name="adj" fmla="val 2116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28048" y="17647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7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/ LOADER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65392" y="190195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A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700+ MB removed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565392" y="23957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the image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565392" y="2852928"/>
            <a:ext cx="452628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65392" y="312724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KB stubs satisfy the loader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65392" y="36576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~500 MB FFT / sparse  +  ~206 MB NCCL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65392" y="4105656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from the installed Torch binary. Multi-GPU restore fails loudly.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9808" y="5285232"/>
            <a:ext cx="10680192" cy="621792"/>
          </a:xfrm>
          <a:prstGeom prst="roundRect">
            <a:avLst>
              <a:gd name="adj" fmla="val 11765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60" y="54772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Bake Torch / CUDA once. Rebuild application code in seconds.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event path keeps the live view honest.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7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50976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daemon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logs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55264" y="2734056"/>
            <a:ext cx="210312" cy="0"/>
          </a:xfrm>
          <a:prstGeom prst="line">
            <a:avLst/>
          </a:prstGeom>
          <a:noFill/>
          <a:ln w="22860">
            <a:solidFill>
              <a:srgbClr val="4FC3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11296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4FC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12464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7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85616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12464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Authenticated JSONL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67328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proxy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per-run token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16752" y="2734056"/>
            <a:ext cx="210312" cy="0"/>
          </a:xfrm>
          <a:prstGeom prst="line">
            <a:avLst/>
          </a:prstGeom>
          <a:noFill/>
          <a:ln w="2286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2784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132640"/>
          </a:solidFill>
          <a:ln w="1905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73952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7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47104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73952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pipeline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28816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· fan-out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778240" y="2734056"/>
            <a:ext cx="210312" cy="0"/>
          </a:xfrm>
          <a:prstGeom prst="line">
            <a:avLst/>
          </a:prstGeom>
          <a:noFill/>
          <a:ln w="22860">
            <a:solidFill>
              <a:srgbClr val="F4C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34272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35440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7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08592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35440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view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90304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· cards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4980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9264" y="4507992"/>
            <a:ext cx="128016" cy="12801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88720" y="43708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 before dependencies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8872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stdlib-only daemon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31596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35424" y="4507992"/>
            <a:ext cx="128016" cy="128016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43708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event is durable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75488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persisted to SQLite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88212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01584" y="4507992"/>
            <a:ext cx="128016" cy="128016"/>
          </a:xfrm>
          <a:prstGeom prst="ellipse">
            <a:avLst/>
          </a:prstGeom>
          <a:solidFill>
            <a:srgbClr val="F4C65D"/>
          </a:solidFill>
          <a:ln w="12700">
            <a:solidFill>
              <a:srgbClr val="F4C6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21040" y="43708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stream, three uses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32104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· history · diagnostics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42416" y="5532120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 → authenticated JSONL → laptop pipeline → browser / SQLite / diagnostics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 three things move.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49808" y="1417320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581912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86484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AA3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Race vs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76856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Ahead or behind at the same budget?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61488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F4C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2926080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930652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C65D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64408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Cost in real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21024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Meter ticks; the pod stops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105656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27024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74820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38D39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08576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Model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65192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Metrics live; the verdict runs off-GPU.</a:t>
            </a:r>
          </a:p>
        </p:txBody>
      </p:sp>
      <p:pic>
        <p:nvPicPr>
          <p:cNvPr id="25" name="Picture 24" descr="live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371600"/>
            <a:ext cx="7735824" cy="43342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49039" y="5779008"/>
            <a:ext cx="77358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38D39F"/>
                </a:solidFill>
                <a:latin typeface="Aptos"/>
              </a:rPr>
              <a:t>A real run, updating now. The slide is only the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diagnostics check their own arithmetic.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498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RECOMPUTE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7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layer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354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RE-DERIVE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loss independently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930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30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CROSS-CHECK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BPB vs on-pod eval</a:t>
            </a:r>
          </a:p>
        </p:txBody>
      </p:sp>
      <p:pic>
        <p:nvPicPr>
          <p:cNvPr id="25" name="Picture 24" descr="diagnostics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29968"/>
            <a:ext cx="10844784" cy="354787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49808" y="5650992"/>
            <a:ext cx="10680192" cy="420624"/>
          </a:xfrm>
          <a:prstGeom prst="roundRect">
            <a:avLst/>
          </a:prstGeom>
          <a:solidFill>
            <a:srgbClr val="0B2B28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678424"/>
            <a:ext cx="102047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4F7FC"/>
                </a:solidFill>
                <a:latin typeface="Aptos"/>
              </a:rPr>
              <a:t>GPU trains.  Laptop audits.  Anything unverified is flagged.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Did my change help?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Rounded Rectangle 10"/>
          <p:cNvSpPr/>
          <p:nvPr/>
        </p:nvSpPr>
        <p:spPr>
          <a:xfrm>
            <a:off x="8476488" y="1417320"/>
            <a:ext cx="2953512" cy="98755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41080" y="157276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572768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AA3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856232"/>
            <a:ext cx="262432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F4F7FC"/>
                </a:solidFill>
                <a:latin typeface="Aptos Display"/>
              </a:rPr>
              <a:t>Did loss improve?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167128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curves + no-regression banner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76488" y="2596896"/>
            <a:ext cx="2953512" cy="1097280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41080" y="2752344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2752344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38D39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035808"/>
            <a:ext cx="2624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4F7FC"/>
                </a:solidFill>
                <a:latin typeface="Aptos Display"/>
              </a:rPr>
              <a:t>Did validation
improve?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474720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BPB at equal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6488" y="3886200"/>
            <a:ext cx="2953512" cy="1097280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F4C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41080" y="404164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4041648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C65D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325112"/>
            <a:ext cx="2624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4F7FC"/>
                </a:solidFill>
                <a:latin typeface="Aptos Display"/>
              </a:rPr>
              <a:t>Did model health
improve?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764024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verdict + headline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184648"/>
            <a:ext cx="10680192" cy="566928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285232"/>
            <a:ext cx="10168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4F7FC"/>
                </a:solidFill>
                <a:latin typeface="Aptos"/>
              </a:rPr>
              <a:t>Compare at equal step or equal progress.  Then decide what to change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907024"/>
            <a:ext cx="73609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F84AA"/>
                </a:solidFill>
                <a:latin typeface="Aptos"/>
              </a:rPr>
              <a:t>Launch  →  Monitor  →  Diagnose  →  </a:t>
            </a:r>
            <a:r>
              <a:rPr sz="1019" b="1">
                <a:solidFill>
                  <a:srgbClr val="4AA3FF"/>
                </a:solidFill>
                <a:latin typeface="Aptos"/>
              </a:rPr>
              <a:t>Compare</a:t>
            </a:r>
            <a:r>
              <a:rPr sz="1019" b="0">
                <a:solidFill>
                  <a:srgbClr val="6F84AA"/>
                </a:solidFill>
                <a:latin typeface="Aptos"/>
              </a:rPr>
              <a:t>  →  Decide</a:t>
            </a:r>
            <a:r>
              <a:rPr sz="1019" b="1">
                <a:solidFill>
                  <a:srgbClr val="38D39F"/>
                </a:solidFill>
                <a:latin typeface="Aptos"/>
              </a:rPr>
              <a:t>  ↺</a:t>
            </a:r>
          </a:p>
        </p:txBody>
      </p:sp>
      <p:pic>
        <p:nvPicPr>
          <p:cNvPr id="29" name="Actual UI – run-vs-run compare" descr="Actual GPT Caddy Compare view showing a no-regression banner, overlaid training-loss curves aligned by progress, validation BPB points, and a model-health metrics tabl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25880"/>
            <a:ext cx="7699248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unmet need to a service I trust every day.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78992" y="1664208"/>
            <a:ext cx="10040112" cy="2816352"/>
          </a:xfrm>
          <a:prstGeom prst="roundRect">
            <a:avLst>
              <a:gd name="adj" fmla="val 2597"/>
            </a:avLst>
          </a:prstGeom>
          <a:solidFill>
            <a:srgbClr val="132640"/>
          </a:solidFill>
          <a:ln w="19050">
            <a:solidFill>
              <a:srgbClr val="38D39F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72768" y="2249424"/>
            <a:ext cx="9052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found the need, built the system,</a:t>
            </a:r>
            <a:endParaRPr lang="en-US" sz="2900" dirty="0"/>
          </a:p>
          <a:p>
            <a:pPr marL="0" indent="0" algn="ctr">
              <a:buNone/>
            </a:pP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made it trustworthy enough to use every day.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4251960" y="3703320"/>
            <a:ext cx="3657600" cy="0"/>
          </a:xfrm>
          <a:prstGeom prst="line">
            <a:avLst/>
          </a:prstGeom>
          <a:noFill/>
          <a:ln w="3048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7400" y="4828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A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4828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50992" y="4828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4828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C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72768" y="5504688"/>
            <a:ext cx="9052560" cy="457200"/>
          </a:xfrm>
          <a:prstGeom prst="roundRect">
            <a:avLst>
              <a:gd name="adj" fmla="val 16000"/>
            </a:avLst>
          </a:prstGeom>
          <a:solidFill>
            <a:srgbClr val="103328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10512" y="5641848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GPU stops itself. The run history and diagnosis remain.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" y="2240280"/>
            <a:ext cx="1417320" cy="0"/>
          </a:xfrm>
          <a:prstGeom prst="line">
            <a:avLst/>
          </a:prstGeom>
          <a:noFill/>
          <a:ln w="381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" y="248716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/ backup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8096" y="32004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live-demo fallbacks · rigor · deeper technical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8096" y="3977640"/>
            <a:ext cx="169164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6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4027932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UP ON DEMAND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· LIVE RUN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fallback: the run at a glance.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55480" y="548640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6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28632" y="59893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FALLBACK 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325880"/>
            <a:ext cx="10863072" cy="4754880"/>
          </a:xfrm>
          <a:prstGeom prst="roundRect">
            <a:avLst>
              <a:gd name="adj" fmla="val 1538"/>
            </a:avLst>
          </a:prstGeom>
          <a:solidFill>
            <a:srgbClr val="081525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" y="1325880"/>
            <a:ext cx="10863072" cy="530352"/>
          </a:xfrm>
          <a:prstGeom prst="rect">
            <a:avLst/>
          </a:prstGeom>
          <a:solidFill>
            <a:srgbClr val="0D1C30"/>
          </a:solidFill>
          <a:ln w="12700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14996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PodTerm  /  training run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65792" y="1453896"/>
            <a:ext cx="1005840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38944" y="1504188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2084832"/>
            <a:ext cx="6656832" cy="2258568"/>
          </a:xfrm>
          <a:prstGeom prst="roundRect">
            <a:avLst>
              <a:gd name="adj" fmla="val 3239"/>
            </a:avLst>
          </a:prstGeom>
          <a:solidFill>
            <a:srgbClr val="0D1A2D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70432" y="2322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vs baseline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4440" y="3913632"/>
            <a:ext cx="594360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34440" y="2798064"/>
            <a:ext cx="0" cy="1115568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34440" y="3076956"/>
            <a:ext cx="594360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34440" y="3355848"/>
            <a:ext cx="594360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34440" y="3634740"/>
            <a:ext cx="594360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34440" y="3712830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947672" y="3601273"/>
            <a:ext cx="713232" cy="44623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60904" y="3645896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74136" y="3445093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87368" y="3333537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3210824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13832" y="3132734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27064" y="3054645"/>
            <a:ext cx="950976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234440" y="3757452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947672" y="3657051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60904" y="3578962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374136" y="3512028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087368" y="3433938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3300070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513832" y="3255447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27064" y="3166201"/>
            <a:ext cx="950976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60720" y="23408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run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73952" y="23408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18120" y="20848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64424" y="224942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927848" y="25603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ahead / behind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445752" y="20848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592056" y="224942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555480" y="25603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C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ticks live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818120" y="3236976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964424" y="340156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927848" y="3712464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derived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445752" y="3236976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592056" y="340156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555480" y="3712464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 verdict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14400" y="4590288"/>
            <a:ext cx="10314432" cy="1170432"/>
          </a:xfrm>
          <a:prstGeom prst="roundRect">
            <a:avLst>
              <a:gd name="adj" fmla="val 6250"/>
            </a:avLst>
          </a:prstGeom>
          <a:solidFill>
            <a:srgbClr val="050D17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61288" y="4791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events / logs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70432" y="50932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training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events  →  metrics  →  snapshot  →  diagnostics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· DIAGNOSTICS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fallback: the verdict and its checks.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55480" y="548640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6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28632" y="59893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FALLBACK 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325880"/>
            <a:ext cx="10863072" cy="4754880"/>
          </a:xfrm>
          <a:prstGeom prst="roundRect">
            <a:avLst>
              <a:gd name="adj" fmla="val 1538"/>
            </a:avLst>
          </a:prstGeom>
          <a:solidFill>
            <a:srgbClr val="081525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2688" y="1664208"/>
            <a:ext cx="2852928" cy="4041648"/>
          </a:xfrm>
          <a:prstGeom prst="roundRect">
            <a:avLst>
              <a:gd name="adj" fmla="val 2564"/>
            </a:avLst>
          </a:prstGeom>
          <a:solidFill>
            <a:srgbClr val="103328"/>
          </a:solidFill>
          <a:ln w="1778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25296" y="1920240"/>
            <a:ext cx="1298448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6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98448" y="19705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HEALTH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00200" y="2542032"/>
            <a:ext cx="1508760" cy="1508760"/>
          </a:xfrm>
          <a:prstGeom prst="ellipse">
            <a:avLst/>
          </a:prstGeom>
          <a:solidFill>
            <a:srgbClr val="38D39F">
              <a:alpha val="12000"/>
            </a:srgbClr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01952" y="2843784"/>
            <a:ext cx="905256" cy="905256"/>
          </a:xfrm>
          <a:prstGeom prst="ellipse">
            <a:avLst/>
          </a:prstGeom>
          <a:solidFill>
            <a:srgbClr val="38D39F">
              <a:alpha val="42000"/>
            </a:srgbClr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12848" y="3154680"/>
            <a:ext cx="292608" cy="292608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07008" y="393192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CROSS-CHECKED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70432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result is silently trusted.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98448" y="50749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GPU trains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Laptop audits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096512" y="1664208"/>
            <a:ext cx="7114032" cy="1024128"/>
          </a:xfrm>
          <a:prstGeom prst="roundRect">
            <a:avLst>
              <a:gd name="adj" fmla="val 714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07408" y="1975104"/>
            <a:ext cx="347472" cy="347472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19659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919472" y="18836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Recompute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400800" y="18928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outputs from components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96512" y="2926080"/>
            <a:ext cx="7114032" cy="1024128"/>
          </a:xfrm>
          <a:prstGeom prst="roundRect">
            <a:avLst>
              <a:gd name="adj" fmla="val 714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07408" y="3236976"/>
            <a:ext cx="347472" cy="347472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16552" y="32278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19472" y="31455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Re-derive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400800" y="31546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independently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96512" y="4187952"/>
            <a:ext cx="7114032" cy="1024128"/>
          </a:xfrm>
          <a:prstGeom prst="roundRect">
            <a:avLst>
              <a:gd name="adj" fmla="val 7143"/>
            </a:avLst>
          </a:prstGeom>
          <a:solidFill>
            <a:srgbClr val="0D1A2D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07408" y="4498848"/>
            <a:ext cx="347472" cy="347472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16552" y="44897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919472" y="44074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Cross-check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400800" y="44165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BPB vs on-pod evaluation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96512" y="5449824"/>
            <a:ext cx="7114032" cy="256032"/>
          </a:xfrm>
          <a:prstGeom prst="roundRect">
            <a:avLst>
              <a:gd name="adj" fmla="val 28571"/>
            </a:avLst>
          </a:prstGeom>
          <a:solidFill>
            <a:srgbClr val="103328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15968" y="548640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come from one backend metric registry.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· 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fallback: did the change help?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55480" y="548640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6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28632" y="59893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FALLBACK 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325880"/>
            <a:ext cx="10863072" cy="4754880"/>
          </a:xfrm>
          <a:prstGeom prst="roundRect">
            <a:avLst>
              <a:gd name="adj" fmla="val 1538"/>
            </a:avLst>
          </a:prstGeom>
          <a:solidFill>
            <a:srgbClr val="081525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2688" y="1627632"/>
            <a:ext cx="749808" cy="301752"/>
          </a:xfrm>
          <a:prstGeom prst="roundRect">
            <a:avLst>
              <a:gd name="adj" fmla="val 48485"/>
            </a:avLst>
          </a:prstGeom>
          <a:solidFill>
            <a:srgbClr val="AAB7CB">
              <a:alpha val="14000"/>
            </a:srgbClr>
          </a:solidFill>
          <a:ln w="12700">
            <a:solidFill>
              <a:srgbClr val="AAB7C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167792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10512" y="1627632"/>
            <a:ext cx="749808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83664" y="167792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81160" y="1627632"/>
            <a:ext cx="1572768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4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54312" y="1677924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 PROGRESS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2688" y="2139696"/>
            <a:ext cx="5669280" cy="3154680"/>
          </a:xfrm>
          <a:prstGeom prst="roundRect">
            <a:avLst>
              <a:gd name="adj" fmla="val 2319"/>
            </a:avLst>
          </a:prstGeom>
          <a:solidFill>
            <a:srgbClr val="0D1A2D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07008" y="2386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overlay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61872" y="4453128"/>
            <a:ext cx="493776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61872" y="2880360"/>
            <a:ext cx="0" cy="1572768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61872" y="3273552"/>
            <a:ext cx="493776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61872" y="3666744"/>
            <a:ext cx="493776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61872" y="4059936"/>
            <a:ext cx="493776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61872" y="4170030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54403" y="4012753"/>
            <a:ext cx="592531" cy="62911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46934" y="4075664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039466" y="3792565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31997" y="3635289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24528" y="3462284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7059" y="3352190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09590" y="3242097"/>
            <a:ext cx="79004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261872" y="4232940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854403" y="4091391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46934" y="3981298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039466" y="3886932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31997" y="3776838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24528" y="3588106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17059" y="3525195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409590" y="3399373"/>
            <a:ext cx="79004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83480" y="2414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96128" y="2414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316736" y="4773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at equal step or equal progress.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894576" y="2139696"/>
            <a:ext cx="4315968" cy="877824"/>
          </a:xfrm>
          <a:prstGeom prst="roundRect">
            <a:avLst>
              <a:gd name="adj" fmla="val 83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50608" y="2322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38160" y="23134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lower / higher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94576" y="3191256"/>
            <a:ext cx="4315968" cy="877824"/>
          </a:xfrm>
          <a:prstGeom prst="roundRect">
            <a:avLst>
              <a:gd name="adj" fmla="val 8333"/>
            </a:avLst>
          </a:prstGeom>
          <a:solidFill>
            <a:srgbClr val="132640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50608" y="3374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38160" y="33649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verdict + headlines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894576" y="4242816"/>
            <a:ext cx="4315968" cy="877824"/>
          </a:xfrm>
          <a:prstGeom prst="roundRect">
            <a:avLst>
              <a:gd name="adj" fmla="val 83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50608" y="44256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38160" y="44165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blocks moved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94576" y="5413248"/>
            <a:ext cx="4315968" cy="256032"/>
          </a:xfrm>
          <a:prstGeom prst="roundRect">
            <a:avLst>
              <a:gd name="adj" fmla="val 28571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114032" y="5458968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what to change next.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to be trusted.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PodTerm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3310128" cy="1901952"/>
          </a:xfrm>
          <a:prstGeom prst="roundRect">
            <a:avLst>
              <a:gd name="adj" fmla="val 3846"/>
            </a:avLst>
          </a:prstGeom>
          <a:solidFill>
            <a:srgbClr val="0D1A2D"/>
          </a:solidFill>
          <a:ln w="152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9264" y="1810512"/>
            <a:ext cx="420624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2416" y="18608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9264" y="23317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integrity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69848" y="28163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Torch-derived stubs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Fail-loud restore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15968" y="1572768"/>
            <a:ext cx="3310128" cy="1901952"/>
          </a:xfrm>
          <a:prstGeom prst="roundRect">
            <a:avLst>
              <a:gd name="adj" fmla="val 3846"/>
            </a:avLst>
          </a:prstGeom>
          <a:solidFill>
            <a:srgbClr val="0D1A2D"/>
          </a:solidFill>
          <a:ln w="15240">
            <a:solidFill>
              <a:srgbClr val="4FC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35424" y="1810512"/>
            <a:ext cx="420624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8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08576" y="18608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35424" y="23317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Data-path integrity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36008" y="28163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contract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+ redaction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882128" y="1572768"/>
            <a:ext cx="3310128" cy="1901952"/>
          </a:xfrm>
          <a:prstGeom prst="roundRect">
            <a:avLst>
              <a:gd name="adj" fmla="val 3846"/>
            </a:avLst>
          </a:prstGeom>
          <a:solidFill>
            <a:srgbClr val="132640"/>
          </a:solidFill>
          <a:ln w="1524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01584" y="1810512"/>
            <a:ext cx="420624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74736" y="18608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01584" y="23317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 integrity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02168" y="28163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Self-checking math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BPB cross-check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49808" y="3822192"/>
            <a:ext cx="10680192" cy="1188720"/>
          </a:xfrm>
          <a:prstGeom prst="roundRect">
            <a:avLst>
              <a:gd name="adj" fmla="val 6154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0704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checks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2880360" y="4041648"/>
            <a:ext cx="8174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pytest: health verdicts · compare diffs · schema · golden end-to-end diagnostics · DB / pipeline / routes · secret redaction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60704" y="4526280"/>
            <a:ext cx="9994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node --test: derived metrics + diagnostics logic     ·     CI: Python, frontend, and image tests on every push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" y="5285232"/>
            <a:ext cx="10680192" cy="566928"/>
          </a:xfrm>
          <a:prstGeom prst="roundRect">
            <a:avLst>
              <a:gd name="adj" fmla="val 12903"/>
            </a:avLst>
          </a:prstGeom>
          <a:solidFill>
            <a:srgbClr val="171D25"/>
          </a:solidFill>
          <a:ln w="1397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1560" y="54589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hardening: static typing · coverage floor · failure injection at thread / SQLite / subprocess seams · dependency scanning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537960" y="600760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F91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proof: github.com/sysreq/sentencepiece_parallel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2414</Words>
  <Application>Microsoft Office PowerPoint</Application>
  <PresentationFormat>Widescreen</PresentationFormat>
  <Paragraphs>296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PodTerm — live demo</dc:title>
  <dc:subject>PodTerm live demo deck — revised for clarity and presentation quality</dc:subject>
  <dc:creator>OpenAI</dc:creator>
  <cp:lastModifiedBy>Stephen Herlihy</cp:lastModifiedBy>
  <cp:revision>2</cp:revision>
  <dcterms:created xsi:type="dcterms:W3CDTF">2026-06-23T02:48:07Z</dcterms:created>
  <dcterms:modified xsi:type="dcterms:W3CDTF">2026-06-23T04:52:30Z</dcterms:modified>
</cp:coreProperties>
</file>