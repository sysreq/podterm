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Stellar Science hiring panel — mixed C++/Python/PhD/non-technical, CEO may attend, some on Teams. 18 min present + 12 min Q&amp;A. Slides carry the narrative; one PRE-WARMED pod gives the live moment. Sentences I'm earning: 'turns a need into a deliverable service' (CEO), 'a builder who owns quality', 'can solve a hard systems problem' (C++).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OPENER (near-verbatim): 'Most of training a small GPT is guess and check. You tweak something, wait, stare at a loss curve, and still can't answer the one question that matters: why is it doing what it's doing. So I built the instrument I wanted. PodTerm rents a GPU by the minute, runs the training, gives me live X-ray vision into the run, and grades the model's health off the training GPU — so I can see why and decide what to change next in minutes, not hours.'  ACTION: quietly kick a fresh live launch here as the 'it's really running' tease — OFF the critical path. If it dies,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'That loop is the product. Everything I show you is one lap around it.' Diagnose is highlighted — it's the part most tools skip and the payoff of the origin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'PodTerm is deliberately small — a control plane on my laptop. The heavy lifting runs on the pod, from a sibling repo, gpt-golf.' Cattle not pets; durable state is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SentencePiece: 'Tokenizing the corpus was the bottleneck, so I forked SentencePiece to use multiple cores with smart buffering — divide-and-conquer over the corpus. 10B tokens from over an hour to under ten minutes, ~half the memory.' Then bait: 'the interesting part is sizing chunks to avoid overflow and killing cross-thread contention — happy to go deep in Q&amp;A.'</a:t>
            </a:r>
          </a:p>
          <a:p>
            <a:r>
              <a:t>CUDA: torch DT_NEEDEDs FFT/sparse libs so the loader must map them at import — but this model never calls them. Can't delete (ImportError) or empty-stub (version check). A 16KB no-op stub exporting exactly torch's referenced symbols at their version node satisfies the loader; ~500MB never ships. Symbols auto-derived from torch (nm -D) so a bump self-corrects. NCCL stubbed single-GPU (~206MB); bootstrap restores the real wheel for torchrun, fail-loud.</a:t>
            </a:r>
          </a:p>
          <a:p>
            <a:r>
              <a:t>RIGOR BEAT (early, on purpose): 'none of this is guess-work — stubs derived from torch, restore is fail-loud. I'd rather the build break than silently compute the wrong 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crisp. pod_eventd.py serves JSONL events, raw log, snapshots, and a tiny /snapshot/ack handshake. Q&amp;A bait: service-singleton DAG (SSEHub&lt;-EventPipeline&lt;-PodManager), ordered shutdown, idempotent finalize, 2-confirm 'pod gone', backpressure, redaction, the boot panel parsing machine logs via a short-lived console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APP (pre-warmed pod, already training). Lead with the race bar — the feature I'm proudest of; client-side derived (EMA step-time, ETA, throughput, projected finish loss). KPI cards; cost ticking. 'All updating right now, live.' BACKUP: if the live pod misbehaves, pivot to a completed historical run — everything works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KEYSTONE — rigor beat + physicist hook + resolution of the origin story in one moment. 'The diagnostics check their own arithmetic. The off-pod forward pass recomposes each layer from its parts, re-derives the loss, and reconciles its bits-per-byte against the on-pod eval — across different hardware. Anything it can't verify is flagged. Most tools assume they're right; this one proves it.' Show the Model Health verdict + deep dive first (plain-English: capacity used? signal flow? gradients? attention focused?).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 → select two runs → Compare. 'This is what the whole thing is FOR: did my change help?' Tie the loop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the CEO sentence, then hand to Q&amp;A. The fresh top-of-show pod has likely finished and self-stopped — it's already in history, graded, ready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slides — pull up on demand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credibility coda. Use if the panel probes on production-readiness — the antidote to 'builds flashy demos that fall over.'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Q&amp;A with this — meet each archetype at their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 answers. Know the SentencePiece threading model and the CUDA stub mechanics cold — those are the C++ proofs the panel will push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103120" cy="54864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E6EDF7"/>
                </a:solidFill>
                <a:latin typeface="Segoe UI"/>
              </a:rPr>
              <a:t>PodTerm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56432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9AA7BD"/>
                </a:solidFill>
                <a:latin typeface="Segoe UI"/>
              </a:rPr>
              <a:t>A laptop instrument for training small GPTs on rented GPUs —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9AA7BD"/>
                </a:solidFill>
                <a:latin typeface="Segoe UI"/>
              </a:rPr>
              <a:t>launch a run, watch it live, and grade the model's health off the GPU.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A9EFF"/>
                </a:solidFill>
                <a:latin typeface="Segoe UI"/>
              </a:rPr>
              <a:t>Live demo</a:t>
            </a:r>
            <a:r>
              <a:rPr sz="1300" b="0" i="0">
                <a:solidFill>
                  <a:srgbClr val="6B7890"/>
                </a:solidFill>
                <a:latin typeface="Segoe UI"/>
              </a:rPr>
              <a:t>   ·   ~18 min + Q&amp;A   ·   driven against a real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THE NEED · 0:00–2:00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Most of training a small GPT is guess and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9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E6EDF7"/>
                </a:solidFill>
                <a:latin typeface="Segoe UI"/>
              </a:rPr>
              <a:t>Tweak something → wait → stare at a loss curve.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9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E6EDF7"/>
                </a:solidFill>
                <a:latin typeface="Segoe UI"/>
              </a:rPr>
              <a:t>Still can't answer the one question that matters: </a:t>
            </a:r>
            <a:r>
              <a:rPr sz="1900" b="1" i="1">
                <a:solidFill>
                  <a:srgbClr val="FBBF24"/>
                </a:solidFill>
                <a:latin typeface="Segoe UI"/>
              </a:rPr>
              <a:t>why</a:t>
            </a:r>
            <a:r>
              <a:rPr sz="1900" b="0" i="0">
                <a:solidFill>
                  <a:srgbClr val="E6EDF7"/>
                </a:solidFill>
                <a:latin typeface="Segoe UI"/>
              </a:rPr>
              <a:t> is it doing what it's doing.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10424160" cy="128016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E6EDF7"/>
                </a:solidFill>
                <a:latin typeface="Segoe UI"/>
              </a:rPr>
              <a:t>So I built the instrument I wanted.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AA7BD"/>
                </a:solidFill>
                <a:latin typeface="Segoe UI"/>
              </a:rPr>
              <a:t>See </a:t>
            </a:r>
            <a:r>
              <a:rPr sz="1600" b="0" i="1">
                <a:solidFill>
                  <a:srgbClr val="34D399"/>
                </a:solidFill>
                <a:latin typeface="Segoe UI"/>
              </a:rPr>
              <a:t>why</a:t>
            </a:r>
            <a:r>
              <a:rPr sz="1600" b="0" i="0">
                <a:solidFill>
                  <a:srgbClr val="9AA7BD"/>
                </a:solidFill>
                <a:latin typeface="Segoe UI"/>
              </a:rPr>
              <a:t> → decide in minutes, not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THE SHAPE · 2:00–3:00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This loop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2</a:t>
            </a:r>
          </a:p>
        </p:txBody>
      </p:sp>
      <p:sp>
        <p:nvSpPr>
          <p:cNvPr id="7" name="Chevron 6"/>
          <p:cNvSpPr/>
          <p:nvPr/>
        </p:nvSpPr>
        <p:spPr>
          <a:xfrm>
            <a:off x="749808" y="2880360"/>
            <a:ext cx="2022652" cy="1097280"/>
          </a:xfrm>
          <a:prstGeom prst="chevron">
            <a:avLst/>
          </a:prstGeom>
          <a:solidFill>
            <a:srgbClr val="182242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square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4A9EFF"/>
                </a:solidFill>
                <a:latin typeface="Segoe UI"/>
              </a:rPr>
              <a:t>Launch</a:t>
            </a:r>
          </a:p>
        </p:txBody>
      </p:sp>
      <p:sp>
        <p:nvSpPr>
          <p:cNvPr id="8" name="Chevron 7"/>
          <p:cNvSpPr/>
          <p:nvPr/>
        </p:nvSpPr>
        <p:spPr>
          <a:xfrm>
            <a:off x="2918764" y="2880360"/>
            <a:ext cx="2022652" cy="1097280"/>
          </a:xfrm>
          <a:prstGeom prst="chevron">
            <a:avLst/>
          </a:prstGeom>
          <a:solidFill>
            <a:srgbClr val="182242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square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4A9EFF"/>
                </a:solidFill>
                <a:latin typeface="Segoe UI"/>
              </a:rPr>
              <a:t>Monitor</a:t>
            </a:r>
          </a:p>
        </p:txBody>
      </p:sp>
      <p:sp>
        <p:nvSpPr>
          <p:cNvPr id="9" name="Chevron 8"/>
          <p:cNvSpPr/>
          <p:nvPr/>
        </p:nvSpPr>
        <p:spPr>
          <a:xfrm>
            <a:off x="5087720" y="2880360"/>
            <a:ext cx="2022652" cy="1097280"/>
          </a:xfrm>
          <a:prstGeom prst="chevron">
            <a:avLst/>
          </a:prstGeom>
          <a:solidFill>
            <a:srgbClr val="18224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square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34D399"/>
                </a:solidFill>
                <a:latin typeface="Segoe UI"/>
              </a:rPr>
              <a:t>Diagnose</a:t>
            </a:r>
          </a:p>
        </p:txBody>
      </p:sp>
      <p:sp>
        <p:nvSpPr>
          <p:cNvPr id="10" name="Chevron 9"/>
          <p:cNvSpPr/>
          <p:nvPr/>
        </p:nvSpPr>
        <p:spPr>
          <a:xfrm>
            <a:off x="7256676" y="2880360"/>
            <a:ext cx="2022652" cy="1097280"/>
          </a:xfrm>
          <a:prstGeom prst="chevron">
            <a:avLst/>
          </a:prstGeom>
          <a:solidFill>
            <a:srgbClr val="182242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square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4A9EFF"/>
                </a:solidFill>
                <a:latin typeface="Segoe UI"/>
              </a:rPr>
              <a:t>Compare</a:t>
            </a:r>
          </a:p>
        </p:txBody>
      </p:sp>
      <p:sp>
        <p:nvSpPr>
          <p:cNvPr id="11" name="Chevron 10"/>
          <p:cNvSpPr/>
          <p:nvPr/>
        </p:nvSpPr>
        <p:spPr>
          <a:xfrm>
            <a:off x="9425632" y="2880360"/>
            <a:ext cx="2022652" cy="1097280"/>
          </a:xfrm>
          <a:prstGeom prst="chevron">
            <a:avLst/>
          </a:prstGeom>
          <a:solidFill>
            <a:srgbClr val="182242"/>
          </a:solidFill>
          <a:ln w="1905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73152" bIns="73152" wrap="square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4A9EFF"/>
                </a:solidFill>
                <a:latin typeface="Segoe UI"/>
              </a:rPr>
              <a:t>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805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AA7BD"/>
                </a:solidFill>
                <a:latin typeface="Segoe UI"/>
              </a:rPr>
              <a:t>Slides for the how. The live app for the proof — and there's a pod training right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HOW IT'S BUILT · 3:00–7:00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Cattle pods. Durable laptop.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4884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RunPod GPU pod</a:t>
            </a:r>
          </a:p>
          <a:p>
            <a:pPr algn="ctr">
              <a:spcAft>
                <a:spcPts val="1000"/>
              </a:spcAft>
            </a:pPr>
            <a:r>
              <a:rPr sz="1200" b="0" i="1">
                <a:solidFill>
                  <a:srgbClr val="6B7890"/>
                </a:solidFill>
                <a:latin typeface="Segoe UI"/>
              </a:rPr>
              <a:t>ephemeral · stateless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Segoe UI"/>
              </a:rPr>
              <a:t>clone repo  ·  pull dataset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Segoe UI"/>
              </a:rPr>
              <a:t>train  ·  snapshot</a:t>
            </a:r>
          </a:p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34D399"/>
                </a:solidFill>
                <a:latin typeface="Segoe UI"/>
              </a:rPr>
              <a:t>…then shut itself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214884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PodTerm — your laptop</a:t>
            </a:r>
          </a:p>
          <a:p>
            <a:pPr algn="ctr">
              <a:spcAft>
                <a:spcPts val="1000"/>
              </a:spcAft>
            </a:pPr>
            <a:r>
              <a:rPr sz="1200" b="0" i="1">
                <a:solidFill>
                  <a:srgbClr val="6B7890"/>
                </a:solidFill>
                <a:latin typeface="Segoe UI"/>
              </a:rPr>
              <a:t>the control plane · durable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Segoe UI"/>
              </a:rPr>
              <a:t>launch  ·  monitor  ·  diagnose</a:t>
            </a:r>
          </a:p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6EDF7"/>
                </a:solidFill>
                <a:latin typeface="Segoe UI"/>
              </a:rPr>
              <a:t>all state in local SQLite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4D399"/>
                </a:solidFill>
                <a:latin typeface="Segoe UI"/>
              </a:rPr>
              <a:t>pod can die anytime — lose nothing</a:t>
            </a:r>
          </a:p>
        </p:txBody>
      </p:sp>
      <p:sp>
        <p:nvSpPr>
          <p:cNvPr id="9" name="Left-Right Arrow 8"/>
          <p:cNvSpPr/>
          <p:nvPr/>
        </p:nvSpPr>
        <p:spPr>
          <a:xfrm>
            <a:off x="5705856" y="3584448"/>
            <a:ext cx="566928" cy="512064"/>
          </a:xfrm>
          <a:prstGeom prst="leftRightArrow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69671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AA7BD"/>
                </a:solidFill>
                <a:latin typeface="Segoe UI"/>
              </a:rPr>
              <a:t>Events + log + snapshots flow back over RunPod's HTTPS proxy.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HOW IT'S BUILT · THE SYSTEMS BEAT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I shave the build to the bone.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1168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E6EDF7"/>
                </a:solidFill>
                <a:latin typeface="Segoe UI"/>
              </a:rPr>
              <a:t>SentencePiece fork  </a:t>
            </a:r>
            <a:r>
              <a:rPr sz="1300" b="0" i="0">
                <a:solidFill>
                  <a:srgbClr val="6B7890"/>
                </a:solidFill>
                <a:latin typeface="Segoe UI"/>
              </a:rPr>
              <a:t>(C++)</a:t>
            </a:r>
          </a:p>
          <a:p>
            <a:pPr algn="ctr">
              <a:spcAft>
                <a:spcPts val="1200"/>
              </a:spcAft>
            </a:pPr>
            <a:r>
              <a:rPr sz="1200" b="0" i="1">
                <a:solidFill>
                  <a:srgbClr val="6B7890"/>
                </a:solidFill>
                <a:latin typeface="Segoe UI"/>
              </a:rPr>
              <a:t>parallel tokenization · divide-and-conquer</a:t>
            </a:r>
          </a:p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9AA7BD"/>
                </a:solidFill>
                <a:latin typeface="Segoe UI"/>
              </a:rPr>
              <a:t>10B tokens:  </a:t>
            </a:r>
            <a:r>
              <a:rPr sz="1800" b="1" i="0">
                <a:solidFill>
                  <a:srgbClr val="34D399"/>
                </a:solidFill>
                <a:latin typeface="Segoe UI"/>
              </a:rPr>
              <a:t>&gt;1 hr → &lt;10 min</a:t>
            </a:r>
          </a:p>
          <a:p>
            <a:pPr algn="ctr">
              <a:spcAft>
                <a:spcPts val="1200"/>
              </a:spcAft>
            </a:pPr>
            <a:r>
              <a:rPr sz="1700" b="1" i="0">
                <a:solidFill>
                  <a:srgbClr val="34D399"/>
                </a:solidFill>
                <a:latin typeface="Segoe UI"/>
              </a:rPr>
              <a:t>~50% less memory</a:t>
            </a:r>
          </a:p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4A9EFF"/>
                </a:solidFill>
                <a:latin typeface="Consolas"/>
              </a:rPr>
              <a:t>github.com/sysreq/sentencepiece_parallel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91656" y="201168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E6EDF7"/>
                </a:solidFill>
                <a:latin typeface="Segoe UI"/>
              </a:rPr>
              <a:t>CUDA dead-weight stubbing</a:t>
            </a:r>
          </a:p>
          <a:p>
            <a:pPr algn="ctr">
              <a:spcAft>
                <a:spcPts val="1200"/>
              </a:spcAft>
            </a:pPr>
            <a:r>
              <a:rPr sz="1200" b="0" i="1">
                <a:solidFill>
                  <a:srgbClr val="6B7890"/>
                </a:solidFill>
                <a:latin typeface="Segoe UI"/>
              </a:rPr>
              <a:t>symbol-exact 16 KB stubs satisfy the loader</a:t>
            </a:r>
          </a:p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34D399"/>
                </a:solidFill>
                <a:latin typeface="Segoe UI"/>
              </a:rPr>
              <a:t>~700 MB+ never shipped</a:t>
            </a:r>
          </a:p>
          <a:p>
            <a:pPr algn="ctr">
              <a:spcAft>
                <a:spcPts val="1000"/>
              </a:spcAft>
            </a:pPr>
            <a:r>
              <a:rPr sz="1300" b="0" i="0">
                <a:solidFill>
                  <a:srgbClr val="9AA7BD"/>
                </a:solidFill>
                <a:latin typeface="Segoe UI"/>
              </a:rPr>
              <a:t>~500 MB FFT/sparse  +  ~206 MB NCCL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9AA7BD"/>
                </a:solidFill>
                <a:latin typeface="Segoe UI"/>
              </a:rPr>
              <a:t>auto-derived from torch → self-correcting; </a:t>
            </a:r>
            <a:r>
              <a:rPr sz="1250" b="1" i="0">
                <a:solidFill>
                  <a:srgbClr val="FBBF24"/>
                </a:solidFill>
                <a:latin typeface="Segoe UI"/>
              </a:rPr>
              <a:t>multi-GPU restore is fail-loud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3949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9AA7BD"/>
                </a:solidFill>
                <a:latin typeface="Segoe UI"/>
              </a:rPr>
              <a:t>Two-stage image: bake torch/CUDA once; rebuild code in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HOW IT'S BUILT · THE WIRE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Structured events, straight to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20240"/>
            <a:ext cx="10762488" cy="2057400"/>
          </a:xfrm>
          <a:prstGeom prst="roundRect">
            <a:avLst>
              <a:gd name="adj" fmla="val 6000"/>
            </a:avLst>
          </a:prstGeom>
          <a:solidFill>
            <a:srgbClr val="0C1328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22D3EE"/>
                </a:solidFill>
                <a:latin typeface="Consolas"/>
              </a:rPr>
              <a:t>gpt-golf pod                      PodTerm (laptop)                    browser
pod_eventd.py  ──JSONL events──►  PodPoller ──► EventPipeline ──► SSEHub ──► Live UI
(stdlib HTTP    over RunPod's      (long-poll)   .drain_loop          │
 daemon :8765)  HTTPS proxy,                          │               └► live charts/cards
                bearer token                          ├──► SQLite (durable)
                                                      └──► snapshot ──► off-pod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515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6EDF7"/>
                </a:solidFill>
                <a:latin typeface="Segoe UI"/>
              </a:rPr>
              <a:t>stdlib-only daemon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 — boots before anything is installed.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Per-run bearer token over RunPod's HTTPS proxy; </a:t>
            </a:r>
            <a:r>
              <a:rPr sz="1500" b="1" i="0">
                <a:solidFill>
                  <a:srgbClr val="E6EDF7"/>
                </a:solidFill>
                <a:latin typeface="Segoe UI"/>
              </a:rPr>
              <a:t>the event schema is a contract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  (load-bearing phases: "Starting Training", "Training finished").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SSE fan-out to the browser + persisted to SQLite as it arrives.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LIVE · 7:00–12:00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Let's watch one,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1168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E6EDF7"/>
                </a:solidFill>
                <a:latin typeface="Segoe UI"/>
              </a:rPr>
              <a:t>A pod is training right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10241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34D399"/>
                </a:solidFill>
                <a:latin typeface="Segoe UI"/>
              </a:rPr>
              <a:t>The race bar</a:t>
            </a:r>
            <a:r>
              <a:rPr sz="1800" b="0" i="0">
                <a:solidFill>
                  <a:srgbClr val="E6EDF7"/>
                </a:solidFill>
                <a:latin typeface="Segoe UI"/>
              </a:rPr>
              <a:t> — am I ahead or behind a baseline at the same time budget?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FBBF24"/>
                </a:solidFill>
                <a:latin typeface="Segoe UI"/>
              </a:rPr>
              <a:t>Cost ticking in real time</a:t>
            </a:r>
            <a:r>
              <a:rPr sz="1800" b="0" i="0">
                <a:solidFill>
                  <a:srgbClr val="E6EDF7"/>
                </a:solidFill>
                <a:latin typeface="Segoe UI"/>
              </a:rPr>
              <a:t> — and the pod stops itself when done.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800" b="0" i="0">
                <a:solidFill>
                  <a:srgbClr val="E6EDF7"/>
                </a:solidFill>
                <a:latin typeface="Segoe UI"/>
              </a:rPr>
              <a:t>Metrics, logs, model-health — </a:t>
            </a:r>
            <a:r>
              <a:rPr sz="1800" b="1" i="0">
                <a:solidFill>
                  <a:srgbClr val="E6EDF7"/>
                </a:solidFill>
                <a:latin typeface="Segoe UI"/>
              </a:rPr>
              <a:t>all live over 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34D399"/>
                </a:solidFill>
                <a:latin typeface="Segoe UI"/>
              </a:rPr>
              <a:t>DIAGNOSE · 12:00–16:00 · THE KEYSTONE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It checks its own arithmetic.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2103120"/>
            <a:ext cx="3246120" cy="173736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4D399"/>
                </a:solidFill>
                <a:latin typeface="Segoe UI"/>
              </a:rPr>
              <a:t>Recompose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Segoe UI"/>
              </a:rPr>
              <a:t>each layer's output
from its parts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79595" y="2807208"/>
            <a:ext cx="365760" cy="32918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72787" y="2103120"/>
            <a:ext cx="3246120" cy="173736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4D399"/>
                </a:solidFill>
                <a:latin typeface="Segoe UI"/>
              </a:rPr>
              <a:t>Re-derive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Segoe UI"/>
              </a:rPr>
              <a:t>the loss, and check it
vs the model's own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7195" y="2807208"/>
            <a:ext cx="365760" cy="32918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0387" y="2103120"/>
            <a:ext cx="3246120" cy="173736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34D399"/>
                </a:solidFill>
                <a:latin typeface="Segoe UI"/>
              </a:rPr>
              <a:t>Reconcile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Segoe UI"/>
              </a:rPr>
              <a:t>bits-per-byte vs the
on-pod eval — across HW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160520"/>
            <a:ext cx="10698480" cy="114300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E6EDF7"/>
                </a:solidFill>
                <a:latin typeface="Segoe UI"/>
              </a:rPr>
              <a:t>Anything it can't verify is flagged — never silently trusted.</a:t>
            </a:r>
          </a:p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9AA7BD"/>
                </a:solidFill>
                <a:latin typeface="Segoe UI"/>
              </a:rPr>
              <a:t>Most tools assume they're right. This one proves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6B7890"/>
                </a:solidFill>
                <a:latin typeface="Segoe UI"/>
              </a:rPr>
              <a:t>Runs off-pod (every GPU-second should train). Thresholds come from a backend metric registry — the UI hardcodes nothing.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COMPARE · 16:00–18:00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Did my change help?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E6EDF7"/>
                </a:solidFill>
                <a:latin typeface="Segoe UI"/>
              </a:rPr>
              <a:t>Overlaid loss curves</a:t>
            </a:r>
            <a:r>
              <a:rPr sz="1800" b="0" i="0">
                <a:solidFill>
                  <a:srgbClr val="E6EDF7"/>
                </a:solidFill>
                <a:latin typeface="Segoe UI"/>
              </a:rPr>
              <a:t> — aligned by step or by % progress.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E6EDF7"/>
                </a:solidFill>
                <a:latin typeface="Segoe UI"/>
              </a:rPr>
              <a:t>Final-loss regression banner</a:t>
            </a:r>
            <a:r>
              <a:rPr sz="1800" b="0" i="0">
                <a:solidFill>
                  <a:srgbClr val="E6EDF7"/>
                </a:solidFill>
                <a:latin typeface="Segoe UI"/>
              </a:rPr>
              <a:t> — instant did-it-get-worse signal.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8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800" b="1" i="0">
                <a:solidFill>
                  <a:srgbClr val="E6EDF7"/>
                </a:solidFill>
                <a:latin typeface="Segoe UI"/>
              </a:rPr>
              <a:t>Model-health diff</a:t>
            </a:r>
            <a:r>
              <a:rPr sz="1800" b="0" i="0">
                <a:solidFill>
                  <a:srgbClr val="E6EDF7"/>
                </a:solidFill>
                <a:latin typeface="Segoe UI"/>
              </a:rPr>
              <a:t> — verdict + headline metrics side by side, and which internal blocks moved.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72000"/>
            <a:ext cx="10424160" cy="86868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AA7BD"/>
                </a:solidFill>
                <a:latin typeface="Segoe UI"/>
              </a:rPr>
              <a:t>Launch → Monitor → Diagnose → </a:t>
            </a:r>
            <a:r>
              <a:rPr sz="1600" b="1" i="0">
                <a:solidFill>
                  <a:srgbClr val="E6EDF7"/>
                </a:solidFill>
                <a:latin typeface="Segoe UI"/>
              </a:rPr>
              <a:t>Compare → Decide → iterate.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CLOSE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Need → a service I use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86000"/>
            <a:ext cx="10149840" cy="201168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E6EDF7"/>
                </a:solidFill>
                <a:latin typeface="Segoe UI"/>
              </a:rPr>
              <a:t>“This started because I had a need I couldn't meet.</a:t>
            </a:r>
          </a:p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E6EDF7"/>
                </a:solidFill>
                <a:latin typeface="Segoe UI"/>
              </a:rPr>
              <a:t>This is what it looks like when I turn that into a service I use every day.”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4D399"/>
                </a:solidFill>
                <a:latin typeface="Segoe UI"/>
              </a:rPr>
              <a:t>The pod from the top has stopped itself. Total bill: a few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6EDF7"/>
                </a:solidFill>
                <a:latin typeface="Segoe UI"/>
              </a:rPr>
              <a:t>Appendix / backup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AA7BD"/>
                </a:solidFill>
                <a:latin typeface="Segoe UI"/>
              </a:rPr>
              <a:t>Rigor &amp; tests · audience hook map · Q&amp;A drill-downs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68880"/>
            <a:ext cx="1828800" cy="54864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BACKUP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Built to be trusted.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34D399"/>
                </a:solidFill>
                <a:latin typeface="Segoe UI"/>
              </a:rPr>
              <a:t>Rigor planted three times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:  torch-derived stubs + fail-loud restore  →  backend threshold registry  →  self-verifying math + BPB reconcile.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6EDF7"/>
                </a:solidFill>
                <a:latin typeface="Segoe UI"/>
              </a:rPr>
              <a:t>Python </a:t>
            </a:r>
            <a:r>
              <a:rPr sz="1500" b="0" i="0">
                <a:solidFill>
                  <a:srgbClr val="22D3EE"/>
                </a:solidFill>
                <a:latin typeface="Consolas"/>
              </a:rPr>
              <a:t>pytest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: health verdicts, compare diffs, schema, a golden end-to-end diagnostics test, db/pipeline/poller/routes, secret redaction.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E6EDF7"/>
                </a:solidFill>
                <a:latin typeface="Segoe UI"/>
              </a:rPr>
              <a:t>Frontend </a:t>
            </a:r>
            <a:r>
              <a:rPr sz="1500" b="0" i="0">
                <a:solidFill>
                  <a:srgbClr val="22D3EE"/>
                </a:solidFill>
                <a:latin typeface="Consolas"/>
              </a:rPr>
              <a:t>node --test</a:t>
            </a:r>
            <a:r>
              <a:rPr sz="1500" b="0" i="0">
                <a:solidFill>
                  <a:srgbClr val="E6EDF7"/>
                </a:solidFill>
                <a:latin typeface="Segoe UI"/>
              </a:rPr>
              <a:t> for the derived-metrics + diagnostics logic.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500" b="1" i="0">
                <a:solidFill>
                  <a:srgbClr val="34D399"/>
                </a:solidFill>
                <a:latin typeface="Segoe UI"/>
              </a:rPr>
              <a:t>CI runs all three on every push.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 i="0">
                <a:solidFill>
                  <a:srgbClr val="FBBF24"/>
                </a:solidFill>
                <a:latin typeface="Segoe UI"/>
              </a:rPr>
              <a:t>Honest what's-next:  </a:t>
            </a:r>
            <a:r>
              <a:rPr sz="1400" b="0" i="0">
                <a:solidFill>
                  <a:srgbClr val="9AA7BD"/>
                </a:solidFill>
                <a:latin typeface="Segoe UI"/>
              </a:rPr>
              <a:t>a static type checker · a coverage floor + failure-injection tests around the thread/SQLite/subprocess seams · dependency/vuln scanning.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BACKUP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Who leans forward 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4A9EFF"/>
                </a:solidFill>
                <a:latin typeface="Segoe UI"/>
              </a:rPr>
              <a:t>C++ /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965960"/>
            <a:ext cx="7744968" cy="91440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Segoe UI"/>
              </a:rPr>
              <a:t>SentencePiece fork (threading, divide-and-conquer, contention) · CUDA symbol-stub (DT_NEEDED, version nodes, ~700 MB+) · compile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990088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22D3EE"/>
                </a:solidFill>
                <a:latin typeface="Segoe UI"/>
              </a:rPr>
              <a:t>Python /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990088"/>
            <a:ext cx="7744968" cy="91440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Segoe UI"/>
              </a:rPr>
              <a:t>stdlib-only daemon · event pipeline + SSE · clean module DAG · lifecycle/saga + ordered shutdown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014216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34D399"/>
                </a:solidFill>
                <a:latin typeface="Segoe UI"/>
              </a:rPr>
              <a:t>Physics / PhD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014216"/>
            <a:ext cx="7744968" cy="91440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Segoe UI"/>
              </a:rPr>
              <a:t>self-verifying diagnostics · BPB reconciliation across hardware · baseline racing as a controlled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038344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82242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FBBF24"/>
                </a:solidFill>
                <a:latin typeface="Segoe UI"/>
              </a:rPr>
              <a:t>CEO / non-technical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5038344"/>
            <a:ext cx="7744968" cy="914400"/>
          </a:xfrm>
          <a:prstGeom prst="roundRect">
            <a:avLst>
              <a:gd name="adj" fmla="val 6000"/>
            </a:avLst>
          </a:prstGeom>
          <a:solidFill>
            <a:srgbClr val="111A33"/>
          </a:solidFill>
          <a:ln w="12700">
            <a:solidFill>
              <a:srgbClr val="2A3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Segoe UI"/>
              </a:rPr>
              <a:t>the need-first story · cost ticking · “decide faster” · visible ownership + 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146304" cy="475488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75488"/>
            <a:ext cx="106070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4A9EFF"/>
                </a:solidFill>
                <a:latin typeface="Segoe UI"/>
              </a:rPr>
              <a:t>BACKUP</a:t>
            </a:r>
          </a:p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E6EDF7"/>
                </a:solidFill>
                <a:latin typeface="Segoe UI"/>
              </a:rPr>
              <a:t>Loaded for Q&amp;A.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PodTerm  ·  Stellar Science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822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6B7890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4A9EFF"/>
                </a:solidFill>
                <a:latin typeface="Segoe UI"/>
              </a:rPr>
              <a:t>SentencePiece threading</a:t>
            </a:r>
            <a:r>
              <a:rPr sz="1450" b="0" i="0">
                <a:solidFill>
                  <a:srgbClr val="E6EDF7"/>
                </a:solidFill>
                <a:latin typeface="Segoe UI"/>
              </a:rPr>
              <a:t> — chunk sizing vs overflow, contention removal, smart buffering; why &gt;1 hr → &lt;10 min (internals are mine to narrate; README has only headline numbers).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4A9EFF"/>
                </a:solidFill>
                <a:latin typeface="Segoe UI"/>
              </a:rPr>
              <a:t>CUDA symbol stubs</a:t>
            </a:r>
            <a:r>
              <a:rPr sz="1450" b="0" i="0">
                <a:solidFill>
                  <a:srgbClr val="E6EDF7"/>
                </a:solidFill>
                <a:latin typeface="Segoe UI"/>
              </a:rPr>
              <a:t> — DT_NEEDED forces the map even under lazy binding; empty stubs fail the version check; cusparse left intact; fail-loud NCCL restore for multi-GPU.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4A9EFF"/>
                </a:solidFill>
                <a:latin typeface="Segoe UI"/>
              </a:rPr>
              <a:t>Backend robustness</a:t>
            </a:r>
            <a:r>
              <a:rPr sz="1450" b="0" i="0">
                <a:solidFill>
                  <a:srgbClr val="E6EDF7"/>
                </a:solidFill>
                <a:latin typeface="Segoe UI"/>
              </a:rPr>
              <a:t> — service-singleton DAG; ordered shutdown; idempotent finalize; 2-confirm pod-gone; metrics batching + bounded retry; SSE backpressure; redaction.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4A9EFF"/>
                </a:solidFill>
                <a:latin typeface="Segoe UI"/>
              </a:rPr>
              <a:t>Diagnostics internals</a:t>
            </a:r>
            <a:r>
              <a:rPr sz="1450" b="0" i="0">
                <a:solidFill>
                  <a:srgbClr val="E6EDF7"/>
                </a:solidFill>
                <a:latin typeface="Segoe UI"/>
              </a:rPr>
              <a:t> — runtime anatomy probe vs hardcoded structure; versioned additive-only schema; per-pod serialization + coalescing.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4A9EFF"/>
                </a:solidFill>
                <a:latin typeface="Segoe UI"/>
              </a:rPr>
              <a:t>•  </a:t>
            </a:r>
            <a:r>
              <a:rPr sz="1450" b="1" i="0">
                <a:solidFill>
                  <a:srgbClr val="4A9EFF"/>
                </a:solidFill>
                <a:latin typeface="Segoe UI"/>
              </a:rPr>
              <a:t>Multi-GPU (asked, not demoed)</a:t>
            </a:r>
            <a:r>
              <a:rPr sz="1450" b="0" i="0">
                <a:solidFill>
                  <a:srgbClr val="E6EDF7"/>
                </a:solidFill>
                <a:latin typeface="Segoe UI"/>
              </a:rPr>
              <a:t> — NCCL stub-and-restore; torchrun --standalone; not yet stress-tested (honest).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